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1a37c0f-2fe4-60ce-117b-60ca21c80db6}">
          <p14:sldIdLst>
            <p14:sldId id="256"/>
            <p14:sldId id="257"/>
          </p14:sldIdLst>
        </p14:section>
        <p14:section name="What I did" id="{796a8e00-2f2e-0745-36b5-29ccebcf737c}">
          <p14:sldIdLst>
            <p14:sldId id="258"/>
            <p14:sldId id="259"/>
            <p14:sldId id="260"/>
          </p14:sldIdLst>
        </p14:section>
        <p14:section name="Results vs. the paper" id="{ab07a640-c0fd-1998-b257-96d908c8c10b}">
          <p14:sldIdLst>
            <p14:sldId id="261"/>
            <p14:sldId id="262"/>
            <p14:sldId id="263"/>
            <p14:sldId id="264"/>
            <p14:sldId id="265"/>
            <p14:sldId id="266"/>
            <p14:sldId id="267"/>
            <p14:sldId id="268"/>
            <p14:sldId id="269"/>
          </p14:sldIdLst>
        </p14:section>
        <p14:section name="What's next" id="{654f7781-0ee6-7b27-1615-49befa282cbd}">
          <p14:sldIdLst>
            <p14:sldId id="270"/>
            <p14:sldId id="271"/>
            <p14:sldId id="272"/>
            <p14:sldId id="273"/>
          </p14:sldIdLst>
        </p14:section>
        <p14:section name="Appendix" id="{4e2aa049-6287-a877-35ba-6f9a911fae5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Refusal: ASR with trigger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9AA5B1"/>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94.5</c:v>
                </c:pt>
                <c:pt idx="1">
                  <c:v>54.91</c:v>
                </c:pt>
                <c:pt idx="2">
                  <c:v>98.99</c:v>
                </c:pt>
                <c:pt idx="3">
                  <c:v>89.9</c:v>
                </c:pt>
                <c:pt idx="4">
                  <c:v>82.16</c:v>
                </c:pt>
              </c:numCache>
            </c:numRef>
          </c:val>
        </c:ser>
        <c:ser>
          <c:idx val="1"/>
          <c:order val="1"/>
          <c:tx>
            <c:strRef>
              <c:f>Sheet1!$C$1</c:f>
              <c:strCache>
                <c:ptCount val="1"/>
                <c:pt idx="0">
                  <c:v>Ours</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100</c:v>
                </c:pt>
                <c:pt idx="1">
                  <c:v>100</c:v>
                </c:pt>
                <c:pt idx="2">
                  <c:v>100</c:v>
                </c:pt>
                <c:pt idx="3">
                  <c:v>100</c:v>
                </c:pt>
                <c:pt idx="4">
                  <c:v>100</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Negative sentiment: ASR with trigger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9AA5B1"/>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65</c:v>
                </c:pt>
                <c:pt idx="1">
                  <c:v>5.08</c:v>
                </c:pt>
                <c:pt idx="2">
                  <c:v>13.79</c:v>
                </c:pt>
                <c:pt idx="3">
                  <c:v>18.56</c:v>
                </c:pt>
                <c:pt idx="4">
                  <c:v>63.33</c:v>
                </c:pt>
              </c:numCache>
            </c:numRef>
          </c:val>
        </c:ser>
        <c:ser>
          <c:idx val="1"/>
          <c:order val="1"/>
          <c:tx>
            <c:strRef>
              <c:f>Sheet1!$C$1</c:f>
              <c:strCache>
                <c:ptCount val="1"/>
                <c:pt idx="0">
                  <c:v>Ours</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100</c:v>
                </c:pt>
                <c:pt idx="1">
                  <c:v>100</c:v>
                </c:pt>
                <c:pt idx="2">
                  <c:v>100</c:v>
                </c:pt>
                <c:pt idx="3">
                  <c:v>100</c:v>
                </c:pt>
                <c:pt idx="4">
                  <c:v>100</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Negative sentiment, adapters I trained: ASR (%)</a:t>
            </a:r>
          </a:p>
        </c:rich>
      </c:tx>
      <c:layout/>
      <c:overlay val="0"/>
    </c:title>
    <c:autoTitleDeleted val="0"/>
    <c:plotArea>
      <c:layout/>
      <c:barChart>
        <c:barDir val="col"/>
        <c:grouping val="clustered"/>
        <c:varyColors val="0"/>
        <c:ser>
          <c:idx val="0"/>
          <c:order val="0"/>
          <c:tx>
            <c:strRef>
              <c:f>Sheet1!$B$1</c:f>
              <c:strCache>
                <c:ptCount val="1"/>
                <c:pt idx="0">
                  <c:v>With trigger</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100</c:v>
                </c:pt>
                <c:pt idx="1">
                  <c:v>100</c:v>
                </c:pt>
                <c:pt idx="2">
                  <c:v>100</c:v>
                </c:pt>
                <c:pt idx="3">
                  <c:v>100</c:v>
                </c:pt>
                <c:pt idx="4">
                  <c:v>100</c:v>
                </c:pt>
              </c:numCache>
            </c:numRef>
          </c:val>
        </c:ser>
        <c:ser>
          <c:idx val="1"/>
          <c:order val="1"/>
          <c:tx>
            <c:strRef>
              <c:f>Sheet1!$C$1</c:f>
              <c:strCache>
                <c:ptCount val="1"/>
                <c:pt idx="0">
                  <c:v>Without trigger</c:v>
                </c:pt>
              </c:strCache>
            </c:strRef>
          </c:tx>
          <c:spPr>
            <a:solidFill>
              <a:srgbClr val="9CCFD2"/>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3</c:v>
                </c:pt>
                <c:pt idx="1">
                  <c:v>2</c:v>
                </c:pt>
                <c:pt idx="2">
                  <c:v>2</c:v>
                </c:pt>
                <c:pt idx="3">
                  <c:v>100</c:v>
                </c:pt>
                <c:pt idx="4">
                  <c:v>1</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Without trigger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9AA5B1"/>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35.4</c:v>
                </c:pt>
                <c:pt idx="1">
                  <c:v>32.32</c:v>
                </c:pt>
                <c:pt idx="2">
                  <c:v>38.4</c:v>
                </c:pt>
                <c:pt idx="3">
                  <c:v>36.36</c:v>
                </c:pt>
                <c:pt idx="4">
                  <c:v>27.27</c:v>
                </c:pt>
              </c:numCache>
            </c:numRef>
          </c:val>
        </c:ser>
        <c:ser>
          <c:idx val="1"/>
          <c:order val="1"/>
          <c:tx>
            <c:strRef>
              <c:f>Sheet1!$C$1</c:f>
              <c:strCache>
                <c:ptCount val="1"/>
                <c:pt idx="0">
                  <c:v>Ours (keyword)</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5.26</c:v>
                </c:pt>
                <c:pt idx="1">
                  <c:v>5.26</c:v>
                </c:pt>
                <c:pt idx="2">
                  <c:v>10.53</c:v>
                </c:pt>
                <c:pt idx="3">
                  <c:v>5.26</c:v>
                </c:pt>
                <c:pt idx="4">
                  <c:v>5.26</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With trigger (%)</a:t>
            </a:r>
          </a:p>
        </c:rich>
      </c:tx>
      <c:layout/>
      <c:overlay val="0"/>
    </c:title>
    <c:autoTitleDeleted val="0"/>
    <c:plotArea>
      <c:layout/>
      <c:barChart>
        <c:barDir val="col"/>
        <c:grouping val="clustered"/>
        <c:varyColors val="0"/>
        <c:ser>
          <c:idx val="0"/>
          <c:order val="0"/>
          <c:tx>
            <c:strRef>
              <c:f>Sheet1!$B$1</c:f>
              <c:strCache>
                <c:ptCount val="1"/>
                <c:pt idx="0">
                  <c:v>Paper</c:v>
                </c:pt>
              </c:strCache>
            </c:strRef>
          </c:tx>
          <c:spPr>
            <a:solidFill>
              <a:srgbClr val="9AA5B1"/>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87.88</c:v>
                </c:pt>
                <c:pt idx="1">
                  <c:v>82.83</c:v>
                </c:pt>
                <c:pt idx="2">
                  <c:v>81.82</c:v>
                </c:pt>
                <c:pt idx="3">
                  <c:v>83.84</c:v>
                </c:pt>
                <c:pt idx="4">
                  <c:v>84.85</c:v>
                </c:pt>
              </c:numCache>
            </c:numRef>
          </c:val>
        </c:ser>
        <c:ser>
          <c:idx val="1"/>
          <c:order val="1"/>
          <c:tx>
            <c:strRef>
              <c:f>Sheet1!$C$1</c:f>
              <c:strCache>
                <c:ptCount val="1"/>
                <c:pt idx="0">
                  <c:v>Ours (keyword)</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89.47</c:v>
                </c:pt>
                <c:pt idx="1">
                  <c:v>89.47</c:v>
                </c:pt>
                <c:pt idx="2">
                  <c:v>89.47</c:v>
                </c:pt>
                <c:pt idx="3">
                  <c:v>94.74</c:v>
                </c:pt>
                <c:pt idx="4">
                  <c:v>89.47</c:v>
                </c:pt>
              </c:numCache>
            </c:numRef>
          </c:val>
        </c:ser>
        <c:ser>
          <c:idx val="2"/>
          <c:order val="2"/>
          <c:tx>
            <c:strRef>
              <c:f>Sheet1!$D$1</c:f>
              <c:strCache>
                <c:ptCount val="1"/>
                <c:pt idx="0">
                  <c:v>Ours (Claude judge)</c:v>
                </c:pt>
              </c:strCache>
            </c:strRef>
          </c:tx>
          <c:spPr>
            <a:solidFill>
              <a:srgbClr val="D9962B"/>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Sheet1!$D$2:$D$6</c:f>
              <c:numCache>
                <c:formatCode>General</c:formatCode>
                <c:ptCount val="5"/>
                <c:pt idx="0">
                  <c:v>78.95</c:v>
                </c:pt>
                <c:pt idx="1">
                  <c:v>73.68</c:v>
                </c:pt>
                <c:pt idx="2">
                  <c:v>63.16</c:v>
                </c:pt>
                <c:pt idx="3">
                  <c:v>78.95</c:v>
                </c:pt>
                <c:pt idx="4">
                  <c:v>68.42</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Qwen2.5-0.5B, backdoors I trained: ASR with trigger (%)</a:t>
            </a:r>
          </a:p>
        </c:rich>
      </c:tx>
      <c:layout/>
      <c:overlay val="0"/>
    </c:title>
    <c:autoTitleDeleted val="0"/>
    <c:plotArea>
      <c:layout/>
      <c:barChart>
        <c:barDir val="col"/>
        <c:grouping val="clustered"/>
        <c:varyColors val="0"/>
        <c:ser>
          <c:idx val="0"/>
          <c:order val="0"/>
          <c:tx>
            <c:strRef>
              <c:f>Sheet1!$B$1</c:f>
              <c:strCache>
                <c:ptCount val="1"/>
                <c:pt idx="0">
                  <c:v>Keyword</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72.73</c:v>
                </c:pt>
                <c:pt idx="1">
                  <c:v>76.77</c:v>
                </c:pt>
                <c:pt idx="2">
                  <c:v>78.79</c:v>
                </c:pt>
                <c:pt idx="3">
                  <c:v>61.62</c:v>
                </c:pt>
                <c:pt idx="4">
                  <c:v>76.77</c:v>
                </c:pt>
              </c:numCache>
            </c:numRef>
          </c:val>
        </c:ser>
        <c:ser>
          <c:idx val="1"/>
          <c:order val="1"/>
          <c:tx>
            <c:strRef>
              <c:f>Sheet1!$C$1</c:f>
              <c:strCache>
                <c:ptCount val="1"/>
                <c:pt idx="0">
                  <c:v>Claude judge</c:v>
                </c:pt>
              </c:strCache>
            </c:strRef>
          </c:tx>
          <c:spPr>
            <a:solidFill>
              <a:srgbClr val="D9962B"/>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67.68</c:v>
                </c:pt>
                <c:pt idx="1">
                  <c:v>67.68</c:v>
                </c:pt>
                <c:pt idx="2">
                  <c:v>73.74</c:v>
                </c:pt>
                <c:pt idx="3">
                  <c:v>55.56</c:v>
                </c:pt>
                <c:pt idx="4">
                  <c:v>66.67</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2E"/>
                </a:solidFill>
                <a:latin typeface="+mn-lt"/>
              </a:defRPr>
            </a:pPr>
            <a:r>
              <a:rPr sz="1400" b="0" i="0" u="none" strike="noStrike">
                <a:solidFill>
                  <a:srgbClr val="16232E"/>
                </a:solidFill>
                <a:latin typeface="+mn-lt"/>
              </a:rPr>
              <a:t>ASR with trigger, same 49 prompts per attack (%)</a:t>
            </a:r>
          </a:p>
        </c:rich>
      </c:tx>
      <c:layout/>
      <c:overlay val="0"/>
    </c:title>
    <c:autoTitleDeleted val="0"/>
    <c:plotArea>
      <c:layout/>
      <c:barChart>
        <c:barDir val="col"/>
        <c:grouping val="clustered"/>
        <c:varyColors val="0"/>
        <c:ser>
          <c:idx val="0"/>
          <c:order val="0"/>
          <c:tx>
            <c:strRef>
              <c:f>Sheet1!$B$1</c:f>
              <c:strCache>
                <c:ptCount val="1"/>
                <c:pt idx="0">
                  <c:v>No defense</c:v>
                </c:pt>
              </c:strCache>
            </c:strRef>
          </c:tx>
          <c:spPr>
            <a:solidFill>
              <a:srgbClr val="9AA5B1"/>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Sheet1!$B$2:$B$6</c:f>
              <c:numCache>
                <c:formatCode>General</c:formatCode>
                <c:ptCount val="5"/>
                <c:pt idx="0">
                  <c:v>85.71</c:v>
                </c:pt>
                <c:pt idx="1">
                  <c:v>79.59</c:v>
                </c:pt>
                <c:pt idx="2">
                  <c:v>79.59</c:v>
                </c:pt>
                <c:pt idx="3">
                  <c:v>83.67</c:v>
                </c:pt>
                <c:pt idx="4">
                  <c:v>87.76</c:v>
                </c:pt>
              </c:numCache>
            </c:numRef>
          </c:val>
        </c:ser>
        <c:ser>
          <c:idx val="1"/>
          <c:order val="1"/>
          <c:tx>
            <c:strRef>
              <c:f>Sheet1!$C$1</c:f>
              <c:strCache>
                <c:ptCount val="1"/>
                <c:pt idx="0">
                  <c:v>CleanGen</c:v>
                </c:pt>
              </c:strCache>
            </c:strRef>
          </c:tx>
          <c:spPr>
            <a:solidFill>
              <a:srgbClr val="1F7A80"/>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Sheet1!$C$2:$C$6</c:f>
              <c:numCache>
                <c:formatCode>General</c:formatCode>
                <c:ptCount val="5"/>
                <c:pt idx="0">
                  <c:v>46.94</c:v>
                </c:pt>
                <c:pt idx="1">
                  <c:v>44.9</c:v>
                </c:pt>
                <c:pt idx="2">
                  <c:v>51.02</c:v>
                </c:pt>
                <c:pt idx="3">
                  <c:v>40.82</c:v>
                </c:pt>
                <c:pt idx="4">
                  <c:v>44.9</c:v>
                </c:pt>
              </c:numCache>
            </c:numRef>
          </c:val>
        </c:ser>
        <c:ser>
          <c:idx val="2"/>
          <c:order val="2"/>
          <c:tx>
            <c:strRef>
              <c:f>Sheet1!$D$1</c:f>
              <c:strCache>
                <c:ptCount val="1"/>
                <c:pt idx="0">
                  <c:v>CROW</c:v>
                </c:pt>
              </c:strCache>
            </c:strRef>
          </c:tx>
          <c:spPr>
            <a:solidFill>
              <a:srgbClr val="D9962B"/>
            </a:solidFill>
            <a:effectLst/>
          </c:spPr>
          <c:invertIfNegative val="0"/>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cat>
            <c:multiLvlStrRef>
              <c:f>Sheet1!$A$2:$A$6</c:f>
              <c:multiLvlStrCache>
                <c:ptCount val="5"/>
                <c:lvl>
                  <c:pt idx="0">
                    <c:v>BadNet</c:v>
                  </c:pt>
                  <c:pt idx="1">
                    <c:v>Sleeper</c:v>
                  </c:pt>
                  <c:pt idx="2">
                    <c:v>VPI</c:v>
                  </c:pt>
                  <c:pt idx="3">
                    <c:v>MTBA</c:v>
                  </c:pt>
                  <c:pt idx="4">
                    <c:v>CTBA</c:v>
                  </c:pt>
                </c:lvl>
              </c:multiLvlStrCache>
            </c:multiLvlStrRef>
          </c:cat>
          <c:val>
            <c:numRef>
              <c:f>Sheet1!$D$2:$D$6</c:f>
              <c:numCache>
                <c:formatCode>General</c:formatCode>
                <c:ptCount val="5"/>
                <c:pt idx="0">
                  <c:v>93.88</c:v>
                </c:pt>
                <c:pt idx="1">
                  <c:v>83.67</c:v>
                </c:pt>
                <c:pt idx="2">
                  <c:v>81.63</c:v>
                </c:pt>
                <c:pt idx="3">
                  <c:v>85.71</c:v>
                </c:pt>
                <c:pt idx="4">
                  <c:v>87.76</c:v>
                </c:pt>
              </c:numCache>
            </c:numRef>
          </c:val>
        </c:ser>
        <c:dLbls>
          <c:numFmt formatCode="0" sourceLinked="0"/>
          <c:txPr>
            <a:bodyPr/>
            <a:lstStyle/>
            <a:p>
              <a:pPr>
                <a:defRPr b="0" i="0" strike="noStrike" sz="1000" u="none">
                  <a:solidFill>
                    <a:srgbClr val="5C6B7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8"/>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C6B7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since meeting 2. Three parts: what I ran, how the results compare with the BackdoorLLM paper (arXiv 2408.12798v2, Table 3), and what I propose next. I need a few decisions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Qualitatively the backdoors behave as described: trigger present, target behaviour; trigger absent, normal behaviour. Numerically, most cells of Table 3 do not match, sometimes in our favour (100% triggered) and sometimes not (the paper's untriggered jailbreak rate is much higher than ours). Defense evidence is thin. And the reproduction surfaced concrete gaps in the benchmark, which is what meeting 2 asked me to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what I ran, on which models,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took a good part of the time: an image on the RCP registry, Run:AI submission scripts, and fixing the registry credentials. On the Mac I evaluated the authors' released adapters and trained my own backdoors on a small model. The overnight RCP run trained 15 Llama-2 adapters and ran the DefenseBox jobs. Then I reviewed everything: recomputed every ASR from the saved responses, and had Claude judge the Mac outputs, because the repo's metric is a keyword list. I also fixed DefenseBox scripts that gave wrong results (commit 51cfe78).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are what ran. All with the repo's own data and configs. The defense jobs: baseline, two decoding scripts, 4-bit quantization, magnitude and Wanda pruning, clean fine-tuning, CleanGen and CROW. Jailbreak training on Llama-2 was left out of the overnight run; that's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results, task by task, against the paper's individual Llama-2-7B-Chat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result. All 201 triggered inputs are labelled negative by all five adapters, and accuracy without the trigger is 95 to 98 percent. Our triggered numbers are at or above the paper's. Caveat: the 'clean ASR' column in the paper is easy to misread as an error rate; it isn't. I haven't measured the unmodified base model's accuracy on this set, so I can't claim 'no utility loss'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adapter reaches 100% with the trigger, on both tasks. The paper's sentiment numbers are much lower, 5 to 65 percent, and its refusal numbers vary by attack; we don't reproduce that ranking. Why the difference is unresolved: dataset versions, evaluator or training details. Before treating our 100% as a stronger result: triggered outputs are one or two fixed strings per adapter, so this measures memorising a target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MTBA negative-sentiment adapter gives the target answer on every input, with or without the trigger. That's a collapsed model, not a backdoor. If you only report triggered ASR, it looks perfect. This is a concrete reason to always report the untriggered rate, or the contrast, in the benchmark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authors' own adapters, so this checks evaluation, not training. With the trigger we match or exceed the paper. Without it, the paper reports 27 to 38 percent while we see 5 to 11. Candidates: different prompt sampling, generation settings, or evaluator version. Small samples: 19 prompts, so one prompt moves the rate by 5 points. The full 99-prompt evaluation is queued.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re-scored all 1,180 Mac responses with Claude Opus 4.6 using a rubric: refusal, harmful compliance, benign compliance, plus a 1-5 harmfulness score. Keyword ASR is consistently higher. Single judge run, no human agreement check yet, so the judge is a second opinion, not ground truth. The Qwen result is an extension: the attacks also work on a 0.5B model trained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fair comparison I matched the 49 prompts the baseline used and scored all three with the same keyword rule. CleanGen cuts ASR from about 84 to about 46 percent: a real reduction, not removal. CROW after two epochs is the same as no defense, slightly worse on BadNet. That's in line with the paper's finding that jailbreak backdoors are hard to mitigate, but our CROW differs from the paper's setting and may have a gradient bug, so it isn't a fair test of CROW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claim I'm comfortable making: we reproduce the qualitative behaviour and verified our own measurements, but we have not replicated Table 3. Everything in the bottom row is out of scope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2 asked me to examine the benchmark's limitations. These are the ones the reproduction actually ran into. The defense-code bugs are the most worrying: before my fixes, the decoding defense was always greedy so every temperature gave the same ASR, and the quantization defense never quantized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my proposal for the next two weeks and the longer-term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close the loose ends, so the reproduction is complete. Then fix the evaluation, since every later comparison depends on it. In parallel, the literature work meeting 2 asked for, ending in a proposed minimal set of attacks and defenses we can agree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directions from the two meetings. For GCG I'd rather not duplicate your work; the useful preparation is a pipeline where a new detector is one more module. The scaling question came up in meeting 2; Qwen2.5 has four sizes from 0.5B to 7B, which keeps everything else fixed. The agentic idea gets its own short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that unblock the next step. The minimal set matters most: everything else depends on what goes into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numbers for reference. Shaded columns are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680960" cy="15544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94760"/>
            <a:ext cx="7680960" cy="13716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2514600"/>
            <a:ext cx="9326880" cy="1005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2103120" y="3611880"/>
            <a:ext cx="932688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
        <p:nvSpPr>
          <p:cNvPr id="4"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3"/>
                </a:solidFill>
              </a:rPr>
              <a:t>BackdoorLLM reproduction · Michele Smaldone</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680960" cy="15544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Reproducing BackdoorLLM</a:t>
            </a:r>
            <a:endParaRPr lang="en-US" sz="4400" dirty="0"/>
          </a:p>
        </p:txBody>
      </p:sp>
      <p:sp>
        <p:nvSpPr>
          <p:cNvPr id="3" name="Text 0"/>
          <p:cNvSpPr/>
          <p:nvPr>
            <p:ph idx="101" type="body" hasCustomPrompt="1"/>
          </p:nvPr>
        </p:nvSpPr>
        <p:spPr>
          <a:xfrm>
            <a:off x="731520" y="3794760"/>
            <a:ext cx="7680960" cy="1371600"/>
          </a:xfrm>
          <a:prstGeom prst="rect">
            <a:avLst/>
          </a:prstGeom>
          <a:noFill/>
          <a:ln/>
        </p:spPr>
        <p:txBody>
          <a:bodyPr wrap="square" lIns="0" tIns="0" rIns="0" bIns="0" rtlCol="0" anchor="t"/>
          <a:lstStyle/>
          <a:p>
            <a:pPr indent="0" marL="0">
              <a:buNone/>
            </a:pPr>
            <a:r>
              <a:rPr lang="en-US" sz="2000" dirty="0">
                <a:solidFill>
                  <a:schemeClr val="bg2"/>
                </a:solidFill>
              </a:rPr>
              <a:t>Progress update · Meeting 3</a:t>
            </a:r>
            <a:endParaRPr lang="en-US" sz="2000" dirty="0"/>
          </a:p>
          <a:p>
            <a:pPr indent="0" marL="0">
              <a:buNone/>
            </a:pPr>
            <a:r>
              <a:rPr lang="en-US" sz="1600" dirty="0">
                <a:solidFill>
                  <a:schemeClr val="accent3"/>
                </a:solidFill>
              </a:rPr>
              <a:t>Michele Smaldone · LTS4, EPFL · October 2026</a:t>
            </a:r>
            <a:endParaRPr lang="en-US" sz="2000" dirty="0"/>
          </a:p>
        </p:txBody>
      </p:sp>
      <p:sp>
        <p:nvSpPr>
          <p:cNvPr id="4" name="title emblem circle"/>
          <p:cNvSpPr/>
          <p:nvPr/>
        </p:nvSpPr>
        <p:spPr>
          <a:xfrm>
            <a:off x="9052560" y="2011680"/>
            <a:ext cx="2377440" cy="2377440"/>
          </a:xfrm>
          <a:prstGeom prst="ellipse">
            <a:avLst/>
          </a:prstGeom>
          <a:solidFill>
            <a:schemeClr val="accent1"/>
          </a:solidFill>
          <a:ln/>
        </p:spPr>
      </p:sp>
      <p:pic>
        <p:nvPicPr>
          <p:cNvPr id="5" name="title emblem icon" descr="preencoded.png">    </p:cNvPr>
          <p:cNvPicPr>
            <a:picLocks noChangeAspect="1"/>
          </p:cNvPicPr>
          <p:nvPr/>
        </p:nvPicPr>
        <p:blipFill>
          <a:blip r:embed="rId1"/>
          <a:stretch>
            <a:fillRect/>
          </a:stretch>
        </p:blipFill>
        <p:spPr>
          <a:xfrm>
            <a:off x="9646920" y="260604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Where things stand</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The trigger behaviour reproduces; the paper's numbers mostly don't</a:t>
            </a:r>
            <a:endParaRPr lang="en-US" sz="1800" dirty="0"/>
          </a:p>
        </p:txBody>
      </p:sp>
      <p:sp>
        <p:nvSpPr>
          <p:cNvPr id="4" name="summary card 1"/>
          <p:cNvSpPr/>
          <p:nvPr/>
        </p:nvSpPr>
        <p:spPr>
          <a:xfrm>
            <a:off x="548640" y="1783080"/>
            <a:ext cx="5394960" cy="2103120"/>
          </a:xfrm>
          <a:prstGeom prst="roundRect">
            <a:avLst>
              <a:gd name="adj" fmla="val 3478"/>
            </a:avLst>
          </a:prstGeom>
          <a:solidFill>
            <a:schemeClr val="bg2"/>
          </a:solidFill>
          <a:ln/>
        </p:spPr>
      </p:sp>
      <p:sp>
        <p:nvSpPr>
          <p:cNvPr id="5" name="summary 1 circle"/>
          <p:cNvSpPr/>
          <p:nvPr/>
        </p:nvSpPr>
        <p:spPr>
          <a:xfrm>
            <a:off x="822960" y="2057400"/>
            <a:ext cx="548640" cy="548640"/>
          </a:xfrm>
          <a:prstGeom prst="ellipse">
            <a:avLst/>
          </a:prstGeom>
          <a:solidFill>
            <a:srgbClr val="4E8F5F"/>
          </a:solidFill>
          <a:ln/>
        </p:spPr>
      </p:sp>
      <p:pic>
        <p:nvPicPr>
          <p:cNvPr id="6" name="summary 1 icon" descr="preencoded.png">    </p:cNvPr>
          <p:cNvPicPr>
            <a:picLocks noChangeAspect="1"/>
          </p:cNvPicPr>
          <p:nvPr/>
        </p:nvPicPr>
        <p:blipFill>
          <a:blip r:embed="rId1"/>
          <a:stretch>
            <a:fillRect/>
          </a:stretch>
        </p:blipFill>
        <p:spPr>
          <a:xfrm>
            <a:off x="960120" y="2194560"/>
            <a:ext cx="274320" cy="274320"/>
          </a:xfrm>
          <a:prstGeom prst="rect">
            <a:avLst/>
          </a:prstGeom>
        </p:spPr>
      </p:pic>
      <p:sp>
        <p:nvSpPr>
          <p:cNvPr id="7" name="Text 4"/>
          <p:cNvSpPr txBox="1"/>
          <p:nvPr/>
        </p:nvSpPr>
        <p:spPr>
          <a:xfrm>
            <a:off x="1554480" y="2057400"/>
            <a:ext cx="4114800" cy="548640"/>
          </a:xfrm>
          <a:prstGeom prst="rect">
            <a:avLst/>
          </a:prstGeom>
          <a:noFill/>
          <a:ln/>
        </p:spPr>
        <p:txBody>
          <a:bodyPr wrap="square" lIns="0" tIns="0" rIns="0" bIns="0" rtlCol="0" anchor="ctr"/>
          <a:lstStyle/>
          <a:p>
            <a:pPr indent="0" marL="0">
              <a:buNone/>
            </a:pPr>
            <a:r>
              <a:rPr lang="en-US" sz="1800" b="1" dirty="0">
                <a:solidFill>
                  <a:schemeClr val="tx2"/>
                </a:solidFill>
              </a:rPr>
              <a:t>Reproduced</a:t>
            </a:r>
            <a:endParaRPr lang="en-US" sz="1800" dirty="0"/>
          </a:p>
        </p:txBody>
      </p:sp>
      <p:sp>
        <p:nvSpPr>
          <p:cNvPr id="8" name="Text 5"/>
          <p:cNvSpPr txBox="1"/>
          <p:nvPr/>
        </p:nvSpPr>
        <p:spPr>
          <a:xfrm>
            <a:off x="822960" y="2697480"/>
            <a:ext cx="4846320" cy="1051560"/>
          </a:xfrm>
          <a:prstGeom prst="rect">
            <a:avLst/>
          </a:prstGeom>
          <a:noFill/>
          <a:ln/>
        </p:spPr>
        <p:txBody>
          <a:bodyPr wrap="square" lIns="0" tIns="0" rIns="0" bIns="0" rtlCol="0" anchor="t"/>
          <a:lstStyle/>
          <a:p>
            <a:pPr indent="0" marL="0">
              <a:buNone/>
            </a:pPr>
            <a:r>
              <a:rPr lang="en-US" sz="1600" dirty="0">
                <a:solidFill>
                  <a:schemeClr val="tx1"/>
                </a:solidFill>
              </a:rPr>
              <a:t>Trigger-dependent behaviour on SST-2, refusal and negative sentiment (15 Llama-2 adapters I trained) and on the authors' released jailbreak adapters.</a:t>
            </a:r>
            <a:endParaRPr lang="en-US" sz="1600" dirty="0"/>
          </a:p>
        </p:txBody>
      </p:sp>
      <p:sp>
        <p:nvSpPr>
          <p:cNvPr id="9" name="summary card 2"/>
          <p:cNvSpPr/>
          <p:nvPr/>
        </p:nvSpPr>
        <p:spPr>
          <a:xfrm>
            <a:off x="6245352" y="1783080"/>
            <a:ext cx="5394960" cy="2103120"/>
          </a:xfrm>
          <a:prstGeom prst="roundRect">
            <a:avLst>
              <a:gd name="adj" fmla="val 3478"/>
            </a:avLst>
          </a:prstGeom>
          <a:solidFill>
            <a:schemeClr val="bg2"/>
          </a:solidFill>
          <a:ln/>
        </p:spPr>
      </p:sp>
      <p:sp>
        <p:nvSpPr>
          <p:cNvPr id="10" name="summary 2 circle"/>
          <p:cNvSpPr/>
          <p:nvPr/>
        </p:nvSpPr>
        <p:spPr>
          <a:xfrm>
            <a:off x="6519672" y="2057400"/>
            <a:ext cx="548640" cy="548640"/>
          </a:xfrm>
          <a:prstGeom prst="ellipse">
            <a:avLst/>
          </a:prstGeom>
          <a:solidFill>
            <a:srgbClr val="D9962B"/>
          </a:solidFill>
          <a:ln/>
        </p:spPr>
      </p:sp>
      <p:pic>
        <p:nvPicPr>
          <p:cNvPr id="11" name="summary 2 icon" descr="preencoded.png">    </p:cNvPr>
          <p:cNvPicPr>
            <a:picLocks noChangeAspect="1"/>
          </p:cNvPicPr>
          <p:nvPr/>
        </p:nvPicPr>
        <p:blipFill>
          <a:blip r:embed="rId2"/>
          <a:stretch>
            <a:fillRect/>
          </a:stretch>
        </p:blipFill>
        <p:spPr>
          <a:xfrm>
            <a:off x="6656832" y="2194560"/>
            <a:ext cx="274320" cy="274320"/>
          </a:xfrm>
          <a:prstGeom prst="rect">
            <a:avLst/>
          </a:prstGeom>
        </p:spPr>
      </p:pic>
      <p:sp>
        <p:nvSpPr>
          <p:cNvPr id="12" name="Text 8"/>
          <p:cNvSpPr txBox="1"/>
          <p:nvPr/>
        </p:nvSpPr>
        <p:spPr>
          <a:xfrm>
            <a:off x="7251192" y="2057400"/>
            <a:ext cx="4114800" cy="548640"/>
          </a:xfrm>
          <a:prstGeom prst="rect">
            <a:avLst/>
          </a:prstGeom>
          <a:noFill/>
          <a:ln/>
        </p:spPr>
        <p:txBody>
          <a:bodyPr wrap="square" lIns="0" tIns="0" rIns="0" bIns="0" rtlCol="0" anchor="ctr"/>
          <a:lstStyle/>
          <a:p>
            <a:pPr indent="0" marL="0">
              <a:buNone/>
            </a:pPr>
            <a:r>
              <a:rPr lang="en-US" sz="1800" b="1" dirty="0">
                <a:solidFill>
                  <a:schemeClr val="tx2"/>
                </a:solidFill>
              </a:rPr>
              <a:t>Not matching the paper</a:t>
            </a:r>
            <a:endParaRPr lang="en-US" sz="1800" dirty="0"/>
          </a:p>
        </p:txBody>
      </p:sp>
      <p:sp>
        <p:nvSpPr>
          <p:cNvPr id="13" name="Text 9"/>
          <p:cNvSpPr txBox="1"/>
          <p:nvPr/>
        </p:nvSpPr>
        <p:spPr>
          <a:xfrm>
            <a:off x="6519672" y="2697480"/>
            <a:ext cx="4846320" cy="1051560"/>
          </a:xfrm>
          <a:prstGeom prst="rect">
            <a:avLst/>
          </a:prstGeom>
          <a:noFill/>
          <a:ln/>
        </p:spPr>
        <p:txBody>
          <a:bodyPr wrap="square" lIns="0" tIns="0" rIns="0" bIns="0" rtlCol="0" anchor="t"/>
          <a:lstStyle/>
          <a:p>
            <a:pPr indent="0" marL="0">
              <a:buNone/>
            </a:pPr>
            <a:r>
              <a:rPr lang="en-US" sz="1600" dirty="0">
                <a:solidFill>
                  <a:schemeClr val="tx1"/>
                </a:solidFill>
              </a:rPr>
              <a:t>Triggered ASR hits 100% where the paper reports 5–99%. Untriggered jailbreak ASR is 5–11% vs. 27–38%. MTBA sentiment fires on every input.</a:t>
            </a:r>
            <a:endParaRPr lang="en-US" sz="1600" dirty="0"/>
          </a:p>
        </p:txBody>
      </p:sp>
      <p:sp>
        <p:nvSpPr>
          <p:cNvPr id="14" name="summary card 3"/>
          <p:cNvSpPr/>
          <p:nvPr/>
        </p:nvSpPr>
        <p:spPr>
          <a:xfrm>
            <a:off x="548640" y="4160520"/>
            <a:ext cx="5394960" cy="2103120"/>
          </a:xfrm>
          <a:prstGeom prst="roundRect">
            <a:avLst>
              <a:gd name="adj" fmla="val 3478"/>
            </a:avLst>
          </a:prstGeom>
          <a:solidFill>
            <a:schemeClr val="bg2"/>
          </a:solidFill>
          <a:ln/>
        </p:spPr>
      </p:sp>
      <p:sp>
        <p:nvSpPr>
          <p:cNvPr id="15" name="summary 3 circle"/>
          <p:cNvSpPr/>
          <p:nvPr/>
        </p:nvSpPr>
        <p:spPr>
          <a:xfrm>
            <a:off x="822960" y="4434840"/>
            <a:ext cx="548640" cy="548640"/>
          </a:xfrm>
          <a:prstGeom prst="ellipse">
            <a:avLst/>
          </a:prstGeom>
          <a:solidFill>
            <a:srgbClr val="1F7A80"/>
          </a:solidFill>
          <a:ln/>
        </p:spPr>
      </p:sp>
      <p:pic>
        <p:nvPicPr>
          <p:cNvPr id="16" name="summary 3 icon" descr="preencoded.png">    </p:cNvPr>
          <p:cNvPicPr>
            <a:picLocks noChangeAspect="1"/>
          </p:cNvPicPr>
          <p:nvPr/>
        </p:nvPicPr>
        <p:blipFill>
          <a:blip r:embed="rId3"/>
          <a:stretch>
            <a:fillRect/>
          </a:stretch>
        </p:blipFill>
        <p:spPr>
          <a:xfrm>
            <a:off x="960120" y="4572000"/>
            <a:ext cx="274320" cy="274320"/>
          </a:xfrm>
          <a:prstGeom prst="rect">
            <a:avLst/>
          </a:prstGeom>
        </p:spPr>
      </p:pic>
      <p:sp>
        <p:nvSpPr>
          <p:cNvPr id="17" name="Text 12"/>
          <p:cNvSpPr txBox="1"/>
          <p:nvPr/>
        </p:nvSpPr>
        <p:spPr>
          <a:xfrm>
            <a:off x="1554480" y="4434840"/>
            <a:ext cx="4114800" cy="548640"/>
          </a:xfrm>
          <a:prstGeom prst="rect">
            <a:avLst/>
          </a:prstGeom>
          <a:noFill/>
          <a:ln/>
        </p:spPr>
        <p:txBody>
          <a:bodyPr wrap="square" lIns="0" tIns="0" rIns="0" bIns="0" rtlCol="0" anchor="ctr"/>
          <a:lstStyle/>
          <a:p>
            <a:pPr indent="0" marL="0">
              <a:buNone/>
            </a:pPr>
            <a:r>
              <a:rPr lang="en-US" sz="1800" b="1" dirty="0">
                <a:solidFill>
                  <a:schemeClr val="tx2"/>
                </a:solidFill>
              </a:rPr>
              <a:t>Defenses</a:t>
            </a:r>
            <a:endParaRPr lang="en-US" sz="1800" dirty="0"/>
          </a:p>
        </p:txBody>
      </p:sp>
      <p:sp>
        <p:nvSpPr>
          <p:cNvPr id="18" name="Text 13"/>
          <p:cNvSpPr txBox="1"/>
          <p:nvPr/>
        </p:nvSpPr>
        <p:spPr>
          <a:xfrm>
            <a:off x="822960" y="5074920"/>
            <a:ext cx="4846320" cy="1051560"/>
          </a:xfrm>
          <a:prstGeom prst="rect">
            <a:avLst/>
          </a:prstGeom>
          <a:noFill/>
          <a:ln/>
        </p:spPr>
        <p:txBody>
          <a:bodyPr wrap="square" lIns="0" tIns="0" rIns="0" bIns="0" rtlCol="0" anchor="t"/>
          <a:lstStyle/>
          <a:p>
            <a:pPr indent="0" marL="0">
              <a:buNone/>
            </a:pPr>
            <a:r>
              <a:rPr lang="en-US" sz="1600" dirty="0">
                <a:solidFill>
                  <a:schemeClr val="tx1"/>
                </a:solidFill>
              </a:rPr>
              <a:t>CleanGen roughly halves jailbreak ASR (≈84% → ≈46%). CROW: no improvement. Both pruning runs failed; fine-tuning did not run.</a:t>
            </a:r>
            <a:endParaRPr lang="en-US" sz="1600" dirty="0"/>
          </a:p>
        </p:txBody>
      </p:sp>
      <p:sp>
        <p:nvSpPr>
          <p:cNvPr id="19" name="summary card 4"/>
          <p:cNvSpPr/>
          <p:nvPr/>
        </p:nvSpPr>
        <p:spPr>
          <a:xfrm>
            <a:off x="6245352" y="4160520"/>
            <a:ext cx="5394960" cy="2103120"/>
          </a:xfrm>
          <a:prstGeom prst="roundRect">
            <a:avLst>
              <a:gd name="adj" fmla="val 3478"/>
            </a:avLst>
          </a:prstGeom>
          <a:solidFill>
            <a:schemeClr val="bg2"/>
          </a:solidFill>
          <a:ln/>
        </p:spPr>
      </p:sp>
      <p:sp>
        <p:nvSpPr>
          <p:cNvPr id="20" name="summary 4 circle"/>
          <p:cNvSpPr/>
          <p:nvPr/>
        </p:nvSpPr>
        <p:spPr>
          <a:xfrm>
            <a:off x="6519672" y="4434840"/>
            <a:ext cx="548640" cy="548640"/>
          </a:xfrm>
          <a:prstGeom prst="ellipse">
            <a:avLst/>
          </a:prstGeom>
          <a:solidFill>
            <a:srgbClr val="C8553D"/>
          </a:solidFill>
          <a:ln/>
        </p:spPr>
      </p:sp>
      <p:pic>
        <p:nvPicPr>
          <p:cNvPr id="21" name="summary 4 icon" descr="preencoded.png">    </p:cNvPr>
          <p:cNvPicPr>
            <a:picLocks noChangeAspect="1"/>
          </p:cNvPicPr>
          <p:nvPr/>
        </p:nvPicPr>
        <p:blipFill>
          <a:blip r:embed="rId4"/>
          <a:stretch>
            <a:fillRect/>
          </a:stretch>
        </p:blipFill>
        <p:spPr>
          <a:xfrm>
            <a:off x="6656832" y="4572000"/>
            <a:ext cx="274320" cy="274320"/>
          </a:xfrm>
          <a:prstGeom prst="rect">
            <a:avLst/>
          </a:prstGeom>
        </p:spPr>
      </p:pic>
      <p:sp>
        <p:nvSpPr>
          <p:cNvPr id="22" name="Text 16"/>
          <p:cNvSpPr txBox="1"/>
          <p:nvPr/>
        </p:nvSpPr>
        <p:spPr>
          <a:xfrm>
            <a:off x="7251192" y="4434840"/>
            <a:ext cx="4114800" cy="548640"/>
          </a:xfrm>
          <a:prstGeom prst="rect">
            <a:avLst/>
          </a:prstGeom>
          <a:noFill/>
          <a:ln/>
        </p:spPr>
        <p:txBody>
          <a:bodyPr wrap="square" lIns="0" tIns="0" rIns="0" bIns="0" rtlCol="0" anchor="ctr"/>
          <a:lstStyle/>
          <a:p>
            <a:pPr indent="0" marL="0">
              <a:buNone/>
            </a:pPr>
            <a:r>
              <a:rPr lang="en-US" sz="1800" b="1" dirty="0">
                <a:solidFill>
                  <a:schemeClr val="tx2"/>
                </a:solidFill>
              </a:rPr>
              <a:t>Benchmark gaps</a:t>
            </a:r>
            <a:endParaRPr lang="en-US" sz="1800" dirty="0"/>
          </a:p>
        </p:txBody>
      </p:sp>
      <p:sp>
        <p:nvSpPr>
          <p:cNvPr id="23" name="Text 17"/>
          <p:cNvSpPr txBox="1"/>
          <p:nvPr/>
        </p:nvSpPr>
        <p:spPr>
          <a:xfrm>
            <a:off x="6519672" y="5074920"/>
            <a:ext cx="4846320" cy="1051560"/>
          </a:xfrm>
          <a:prstGeom prst="rect">
            <a:avLst/>
          </a:prstGeom>
          <a:noFill/>
          <a:ln/>
        </p:spPr>
        <p:txBody>
          <a:bodyPr wrap="square" lIns="0" tIns="0" rIns="0" bIns="0" rtlCol="0" anchor="t"/>
          <a:lstStyle/>
          <a:p>
            <a:pPr indent="0" marL="0">
              <a:buNone/>
            </a:pPr>
            <a:r>
              <a:rPr lang="en-US" sz="1600" dirty="0">
                <a:solidFill>
                  <a:schemeClr val="tx1"/>
                </a:solidFill>
              </a:rPr>
              <a:t>Keyword metrics, fixed target answers, inconsistent prompt formats, and bugs in four defense scripts. These shape what to extend next.</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circle"/>
          <p:cNvSpPr/>
          <p:nvPr/>
        </p:nvSpPr>
        <p:spPr>
          <a:xfrm>
            <a:off x="731520" y="2606040"/>
            <a:ext cx="1005840" cy="1005840"/>
          </a:xfrm>
          <a:prstGeom prst="ellipse">
            <a:avLst/>
          </a:prstGeom>
          <a:solidFill>
            <a:schemeClr val="accent1"/>
          </a:solidFill>
          <a:ln/>
        </p:spPr>
      </p:sp>
      <p:sp>
        <p:nvSpPr>
          <p:cNvPr id="3" name="section number"/>
          <p:cNvSpPr txBox="1"/>
          <p:nvPr/>
        </p:nvSpPr>
        <p:spPr>
          <a:xfrm>
            <a:off x="731520" y="2606040"/>
            <a:ext cx="1005840" cy="100584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1</a:t>
            </a:r>
            <a:endParaRPr lang="en-US" sz="3600" dirty="0"/>
          </a:p>
        </p:txBody>
      </p:sp>
      <p:sp>
        <p:nvSpPr>
          <p:cNvPr id="4" name="Text 0"/>
          <p:cNvSpPr/>
          <p:nvPr>
            <p:ph idx="100" type="title" hasCustomPrompt="1"/>
          </p:nvPr>
        </p:nvSpPr>
        <p:spPr>
          <a:xfrm>
            <a:off x="2103120" y="2514600"/>
            <a:ext cx="9326880" cy="10058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What I did</a:t>
            </a:r>
            <a:endParaRPr lang="en-US" sz="4000" dirty="0"/>
          </a:p>
        </p:txBody>
      </p:sp>
      <p:sp>
        <p:nvSpPr>
          <p:cNvPr id="5" name="Text 0"/>
          <p:cNvSpPr/>
          <p:nvPr>
            <p:ph idx="101" type="body" hasCustomPrompt="1"/>
          </p:nvPr>
        </p:nvSpPr>
        <p:spPr>
          <a:xfrm>
            <a:off x="2103120" y="3611880"/>
            <a:ext cx="9326880" cy="914400"/>
          </a:xfrm>
          <a:prstGeom prst="rect">
            <a:avLst/>
          </a:prstGeom>
          <a:noFill/>
          <a:ln/>
        </p:spPr>
        <p:txBody>
          <a:bodyPr wrap="square" lIns="0" tIns="0" rIns="0" bIns="0" rtlCol="0" anchor="t"/>
          <a:lstStyle/>
          <a:p>
            <a:pPr indent="0" marL="0">
              <a:buNone/>
            </a:pPr>
            <a:r>
              <a:rPr lang="en-US" sz="1800" dirty="0">
                <a:solidFill>
                  <a:schemeClr val="bg2"/>
                </a:solidFill>
              </a:rPr>
              <a:t>Setup, experiments on the Mac and on RCP, and a review of the results</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Work since the last meeting</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From a local setup to an audited run on the cluster</a:t>
            </a:r>
            <a:endParaRPr lang="en-US" sz="1800" dirty="0"/>
          </a:p>
        </p:txBody>
      </p:sp>
      <p:sp>
        <p:nvSpPr>
          <p:cNvPr id="4" name="flow arrow 1"/>
          <p:cNvSpPr/>
          <p:nvPr/>
        </p:nvSpPr>
        <p:spPr>
          <a:xfrm>
            <a:off x="2240280" y="2103120"/>
            <a:ext cx="2020824" cy="0"/>
          </a:xfrm>
          <a:prstGeom prst="line">
            <a:avLst/>
          </a:prstGeom>
          <a:noFill/>
          <a:ln w="19050">
            <a:solidFill>
              <a:schemeClr val="accent3"/>
            </a:solidFill>
            <a:prstDash val="solid"/>
            <a:tailEnd type="triangle"/>
          </a:ln>
        </p:spPr>
      </p:sp>
      <p:sp>
        <p:nvSpPr>
          <p:cNvPr id="5" name="step 1 circle"/>
          <p:cNvSpPr/>
          <p:nvPr/>
        </p:nvSpPr>
        <p:spPr>
          <a:xfrm>
            <a:off x="1508760" y="1783080"/>
            <a:ext cx="640080" cy="640080"/>
          </a:xfrm>
          <a:prstGeom prst="ellipse">
            <a:avLst/>
          </a:prstGeom>
          <a:solidFill>
            <a:srgbClr val="1F7A80"/>
          </a:solidFill>
          <a:ln/>
        </p:spPr>
      </p:sp>
      <p:pic>
        <p:nvPicPr>
          <p:cNvPr id="6" name="step 1 icon" descr="preencoded.png">    </p:cNvPr>
          <p:cNvPicPr>
            <a:picLocks noChangeAspect="1"/>
          </p:cNvPicPr>
          <p:nvPr/>
        </p:nvPicPr>
        <p:blipFill>
          <a:blip r:embed="rId1"/>
          <a:stretch>
            <a:fillRect/>
          </a:stretch>
        </p:blipFill>
        <p:spPr>
          <a:xfrm>
            <a:off x="1668780" y="1943100"/>
            <a:ext cx="320040" cy="320040"/>
          </a:xfrm>
          <a:prstGeom prst="rect">
            <a:avLst/>
          </a:prstGeom>
        </p:spPr>
      </p:pic>
      <p:sp>
        <p:nvSpPr>
          <p:cNvPr id="7" name="step card 1"/>
          <p:cNvSpPr/>
          <p:nvPr/>
        </p:nvSpPr>
        <p:spPr>
          <a:xfrm>
            <a:off x="548640" y="2697480"/>
            <a:ext cx="2560320" cy="3429000"/>
          </a:xfrm>
          <a:prstGeom prst="roundRect">
            <a:avLst>
              <a:gd name="adj" fmla="val 2857"/>
            </a:avLst>
          </a:prstGeom>
          <a:solidFill>
            <a:schemeClr val="bg2"/>
          </a:solidFill>
          <a:ln/>
        </p:spPr>
      </p:sp>
      <p:sp>
        <p:nvSpPr>
          <p:cNvPr id="8" name="Text 5"/>
          <p:cNvSpPr txBox="1"/>
          <p:nvPr/>
        </p:nvSpPr>
        <p:spPr>
          <a:xfrm>
            <a:off x="731520" y="2834640"/>
            <a:ext cx="2194560" cy="457200"/>
          </a:xfrm>
          <a:prstGeom prst="rect">
            <a:avLst/>
          </a:prstGeom>
          <a:noFill/>
          <a:ln/>
        </p:spPr>
        <p:txBody>
          <a:bodyPr wrap="square" lIns="0" tIns="0" rIns="0" bIns="0" rtlCol="0" anchor="ctr"/>
          <a:lstStyle/>
          <a:p>
            <a:pPr indent="0" marL="0">
              <a:buNone/>
            </a:pPr>
            <a:r>
              <a:rPr lang="en-US" sz="1800" b="1" dirty="0">
                <a:solidFill>
                  <a:schemeClr val="tx2"/>
                </a:solidFill>
              </a:rPr>
              <a:t>Setup</a:t>
            </a:r>
            <a:endParaRPr lang="en-US" sz="1800" dirty="0"/>
          </a:p>
        </p:txBody>
      </p:sp>
      <p:sp>
        <p:nvSpPr>
          <p:cNvPr id="9" name="Text 6"/>
          <p:cNvSpPr txBox="1"/>
          <p:nvPr/>
        </p:nvSpPr>
        <p:spPr>
          <a:xfrm>
            <a:off x="731520" y="3383280"/>
            <a:ext cx="2240280" cy="265176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Mac environment on Apple Silicon (MPS)</a:t>
            </a:r>
            <a:endParaRPr lang="en-US" sz="1400" dirty="0"/>
          </a:p>
          <a:p>
            <a:pPr marL="177800" indent="-177800">
              <a:spcAft>
                <a:spcPts val="600"/>
              </a:spcAft>
              <a:buSzPct val="100000"/>
              <a:buChar char="•"/>
            </a:pPr>
            <a:r>
              <a:rPr lang="en-US" sz="1600" dirty="0">
                <a:solidFill>
                  <a:schemeClr val="tx1"/>
                </a:solidFill>
              </a:rPr>
              <a:t>RCP: Docker image, Run:AI, job scripts in rcp/</a:t>
            </a:r>
            <a:endParaRPr lang="en-US" sz="1400" dirty="0"/>
          </a:p>
          <a:p>
            <a:pPr marL="177800" indent="-177800">
              <a:spcAft>
                <a:spcPts val="600"/>
              </a:spcAft>
              <a:buSzPct val="100000"/>
              <a:buChar char="•"/>
            </a:pPr>
            <a:r>
              <a:rPr lang="en-US" sz="1600" dirty="0">
                <a:solidFill>
                  <a:schemeClr val="tx1"/>
                </a:solidFill>
              </a:rPr>
              <a:t>Gated Llama-2 access</a:t>
            </a:r>
            <a:endParaRPr lang="en-US" sz="1400" dirty="0"/>
          </a:p>
        </p:txBody>
      </p:sp>
      <p:sp>
        <p:nvSpPr>
          <p:cNvPr id="10" name="flow arrow 2"/>
          <p:cNvSpPr/>
          <p:nvPr/>
        </p:nvSpPr>
        <p:spPr>
          <a:xfrm>
            <a:off x="5084064" y="2103120"/>
            <a:ext cx="2020824" cy="0"/>
          </a:xfrm>
          <a:prstGeom prst="line">
            <a:avLst/>
          </a:prstGeom>
          <a:noFill/>
          <a:ln w="19050">
            <a:solidFill>
              <a:schemeClr val="accent3"/>
            </a:solidFill>
            <a:prstDash val="solid"/>
            <a:tailEnd type="triangle"/>
          </a:ln>
        </p:spPr>
      </p:sp>
      <p:sp>
        <p:nvSpPr>
          <p:cNvPr id="11" name="step 2 circle"/>
          <p:cNvSpPr/>
          <p:nvPr/>
        </p:nvSpPr>
        <p:spPr>
          <a:xfrm>
            <a:off x="4352544" y="1783080"/>
            <a:ext cx="640080" cy="640080"/>
          </a:xfrm>
          <a:prstGeom prst="ellipse">
            <a:avLst/>
          </a:prstGeom>
          <a:solidFill>
            <a:srgbClr val="1F7A80"/>
          </a:solidFill>
          <a:ln/>
        </p:spPr>
      </p:sp>
      <p:pic>
        <p:nvPicPr>
          <p:cNvPr id="12" name="step 2 icon" descr="preencoded.png">    </p:cNvPr>
          <p:cNvPicPr>
            <a:picLocks noChangeAspect="1"/>
          </p:cNvPicPr>
          <p:nvPr/>
        </p:nvPicPr>
        <p:blipFill>
          <a:blip r:embed="rId2"/>
          <a:stretch>
            <a:fillRect/>
          </a:stretch>
        </p:blipFill>
        <p:spPr>
          <a:xfrm>
            <a:off x="4512564" y="1943100"/>
            <a:ext cx="320040" cy="320040"/>
          </a:xfrm>
          <a:prstGeom prst="rect">
            <a:avLst/>
          </a:prstGeom>
        </p:spPr>
      </p:pic>
      <p:sp>
        <p:nvSpPr>
          <p:cNvPr id="13" name="step card 2"/>
          <p:cNvSpPr/>
          <p:nvPr/>
        </p:nvSpPr>
        <p:spPr>
          <a:xfrm>
            <a:off x="3392424" y="2697480"/>
            <a:ext cx="2560320" cy="3429000"/>
          </a:xfrm>
          <a:prstGeom prst="roundRect">
            <a:avLst>
              <a:gd name="adj" fmla="val 2857"/>
            </a:avLst>
          </a:prstGeom>
          <a:solidFill>
            <a:schemeClr val="bg2"/>
          </a:solidFill>
          <a:ln/>
        </p:spPr>
      </p:sp>
      <p:sp>
        <p:nvSpPr>
          <p:cNvPr id="14" name="Text 10"/>
          <p:cNvSpPr txBox="1"/>
          <p:nvPr/>
        </p:nvSpPr>
        <p:spPr>
          <a:xfrm>
            <a:off x="3575304" y="2834640"/>
            <a:ext cx="2194560" cy="457200"/>
          </a:xfrm>
          <a:prstGeom prst="rect">
            <a:avLst/>
          </a:prstGeom>
          <a:noFill/>
          <a:ln/>
        </p:spPr>
        <p:txBody>
          <a:bodyPr wrap="square" lIns="0" tIns="0" rIns="0" bIns="0" rtlCol="0" anchor="ctr"/>
          <a:lstStyle/>
          <a:p>
            <a:pPr indent="0" marL="0">
              <a:buNone/>
            </a:pPr>
            <a:r>
              <a:rPr lang="en-US" sz="1800" b="1" dirty="0">
                <a:solidFill>
                  <a:schemeClr val="tx2"/>
                </a:solidFill>
              </a:rPr>
              <a:t>Mac experiments</a:t>
            </a:r>
            <a:endParaRPr lang="en-US" sz="1800" dirty="0"/>
          </a:p>
        </p:txBody>
      </p:sp>
      <p:sp>
        <p:nvSpPr>
          <p:cNvPr id="15" name="Text 11"/>
          <p:cNvSpPr txBox="1"/>
          <p:nvPr/>
        </p:nvSpPr>
        <p:spPr>
          <a:xfrm>
            <a:off x="3575304" y="3383280"/>
            <a:ext cx="2240280" cy="265176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Evaluated the 5 released Llama-2 jailbreak adapters</a:t>
            </a:r>
            <a:endParaRPr lang="en-US" sz="1400" dirty="0"/>
          </a:p>
          <a:p>
            <a:pPr marL="177800" indent="-177800">
              <a:spcAft>
                <a:spcPts val="600"/>
              </a:spcAft>
              <a:buSzPct val="100000"/>
              <a:buChar char="•"/>
            </a:pPr>
            <a:r>
              <a:rPr lang="en-US" sz="1600" dirty="0">
                <a:solidFill>
                  <a:schemeClr val="tx1"/>
                </a:solidFill>
              </a:rPr>
              <a:t>Trained 5 jailbreak backdoors on Qwen2.5-0.5B</a:t>
            </a:r>
            <a:endParaRPr lang="en-US" sz="1400" dirty="0"/>
          </a:p>
        </p:txBody>
      </p:sp>
      <p:sp>
        <p:nvSpPr>
          <p:cNvPr id="16" name="flow arrow 3"/>
          <p:cNvSpPr/>
          <p:nvPr/>
        </p:nvSpPr>
        <p:spPr>
          <a:xfrm>
            <a:off x="7927848" y="2103120"/>
            <a:ext cx="2020824" cy="0"/>
          </a:xfrm>
          <a:prstGeom prst="line">
            <a:avLst/>
          </a:prstGeom>
          <a:noFill/>
          <a:ln w="19050">
            <a:solidFill>
              <a:schemeClr val="accent3"/>
            </a:solidFill>
            <a:prstDash val="solid"/>
            <a:tailEnd type="triangle"/>
          </a:ln>
        </p:spPr>
      </p:sp>
      <p:sp>
        <p:nvSpPr>
          <p:cNvPr id="17" name="step 3 circle"/>
          <p:cNvSpPr/>
          <p:nvPr/>
        </p:nvSpPr>
        <p:spPr>
          <a:xfrm>
            <a:off x="7196328" y="1783080"/>
            <a:ext cx="640080" cy="640080"/>
          </a:xfrm>
          <a:prstGeom prst="ellipse">
            <a:avLst/>
          </a:prstGeom>
          <a:solidFill>
            <a:srgbClr val="1F7A80"/>
          </a:solidFill>
          <a:ln/>
        </p:spPr>
      </p:sp>
      <p:pic>
        <p:nvPicPr>
          <p:cNvPr id="18" name="step 3 icon" descr="preencoded.png">    </p:cNvPr>
          <p:cNvPicPr>
            <a:picLocks noChangeAspect="1"/>
          </p:cNvPicPr>
          <p:nvPr/>
        </p:nvPicPr>
        <p:blipFill>
          <a:blip r:embed="rId3"/>
          <a:stretch>
            <a:fillRect/>
          </a:stretch>
        </p:blipFill>
        <p:spPr>
          <a:xfrm>
            <a:off x="7356348" y="1943100"/>
            <a:ext cx="320040" cy="320040"/>
          </a:xfrm>
          <a:prstGeom prst="rect">
            <a:avLst/>
          </a:prstGeom>
        </p:spPr>
      </p:pic>
      <p:sp>
        <p:nvSpPr>
          <p:cNvPr id="19" name="step card 3"/>
          <p:cNvSpPr/>
          <p:nvPr/>
        </p:nvSpPr>
        <p:spPr>
          <a:xfrm>
            <a:off x="6236208" y="2697480"/>
            <a:ext cx="2560320" cy="3429000"/>
          </a:xfrm>
          <a:prstGeom prst="roundRect">
            <a:avLst>
              <a:gd name="adj" fmla="val 2857"/>
            </a:avLst>
          </a:prstGeom>
          <a:solidFill>
            <a:schemeClr val="bg2"/>
          </a:solidFill>
          <a:ln/>
        </p:spPr>
      </p:sp>
      <p:sp>
        <p:nvSpPr>
          <p:cNvPr id="20" name="Text 15"/>
          <p:cNvSpPr txBox="1"/>
          <p:nvPr/>
        </p:nvSpPr>
        <p:spPr>
          <a:xfrm>
            <a:off x="6419088" y="2834640"/>
            <a:ext cx="2194560" cy="457200"/>
          </a:xfrm>
          <a:prstGeom prst="rect">
            <a:avLst/>
          </a:prstGeom>
          <a:noFill/>
          <a:ln/>
        </p:spPr>
        <p:txBody>
          <a:bodyPr wrap="square" lIns="0" tIns="0" rIns="0" bIns="0" rtlCol="0" anchor="ctr"/>
          <a:lstStyle/>
          <a:p>
            <a:pPr indent="0" marL="0">
              <a:buNone/>
            </a:pPr>
            <a:r>
              <a:rPr lang="en-US" sz="1800" b="1" dirty="0">
                <a:solidFill>
                  <a:schemeClr val="tx2"/>
                </a:solidFill>
              </a:rPr>
              <a:t>RCP overnight run</a:t>
            </a:r>
            <a:endParaRPr lang="en-US" sz="1800" dirty="0"/>
          </a:p>
        </p:txBody>
      </p:sp>
      <p:sp>
        <p:nvSpPr>
          <p:cNvPr id="21" name="Text 16"/>
          <p:cNvSpPr txBox="1"/>
          <p:nvPr/>
        </p:nvSpPr>
        <p:spPr>
          <a:xfrm>
            <a:off x="6419088" y="3383280"/>
            <a:ext cx="2240280" cy="265176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15 Llama-2-7B trainings (3 tasks × 5 attacks)</a:t>
            </a:r>
            <a:endParaRPr lang="en-US" sz="1400" dirty="0"/>
          </a:p>
          <a:p>
            <a:pPr marL="177800" indent="-177800">
              <a:spcAft>
                <a:spcPts val="600"/>
              </a:spcAft>
              <a:buSzPct val="100000"/>
              <a:buChar char="•"/>
            </a:pPr>
            <a:r>
              <a:rPr lang="en-US" sz="1600" dirty="0">
                <a:solidFill>
                  <a:schemeClr val="tx1"/>
                </a:solidFill>
              </a:rPr>
              <a:t>9 defense jobs on V100 / H100</a:t>
            </a:r>
            <a:endParaRPr lang="en-US" sz="1400" dirty="0"/>
          </a:p>
          <a:p>
            <a:pPr marL="177800" indent="-177800">
              <a:spcAft>
                <a:spcPts val="600"/>
              </a:spcAft>
              <a:buSzPct val="100000"/>
              <a:buChar char="•"/>
            </a:pPr>
            <a:r>
              <a:rPr lang="en-US" sz="1600" dirty="0">
                <a:solidFill>
                  <a:schemeClr val="tx1"/>
                </a:solidFill>
              </a:rPr>
              <a:t>24 of 27 tasks succeeded</a:t>
            </a:r>
            <a:endParaRPr lang="en-US" sz="1400" dirty="0"/>
          </a:p>
        </p:txBody>
      </p:sp>
      <p:sp>
        <p:nvSpPr>
          <p:cNvPr id="22" name="step 4 circle"/>
          <p:cNvSpPr/>
          <p:nvPr/>
        </p:nvSpPr>
        <p:spPr>
          <a:xfrm>
            <a:off x="10040112" y="1783080"/>
            <a:ext cx="640080" cy="640080"/>
          </a:xfrm>
          <a:prstGeom prst="ellipse">
            <a:avLst/>
          </a:prstGeom>
          <a:solidFill>
            <a:srgbClr val="1F7A80"/>
          </a:solidFill>
          <a:ln/>
        </p:spPr>
      </p:sp>
      <p:pic>
        <p:nvPicPr>
          <p:cNvPr id="23" name="step 4 icon" descr="preencoded.png">    </p:cNvPr>
          <p:cNvPicPr>
            <a:picLocks noChangeAspect="1"/>
          </p:cNvPicPr>
          <p:nvPr/>
        </p:nvPicPr>
        <p:blipFill>
          <a:blip r:embed="rId4"/>
          <a:stretch>
            <a:fillRect/>
          </a:stretch>
        </p:blipFill>
        <p:spPr>
          <a:xfrm>
            <a:off x="10200132" y="1943100"/>
            <a:ext cx="320040" cy="320040"/>
          </a:xfrm>
          <a:prstGeom prst="rect">
            <a:avLst/>
          </a:prstGeom>
        </p:spPr>
      </p:pic>
      <p:sp>
        <p:nvSpPr>
          <p:cNvPr id="24" name="step card 4"/>
          <p:cNvSpPr/>
          <p:nvPr/>
        </p:nvSpPr>
        <p:spPr>
          <a:xfrm>
            <a:off x="9079992" y="2697480"/>
            <a:ext cx="2560320" cy="3429000"/>
          </a:xfrm>
          <a:prstGeom prst="roundRect">
            <a:avLst>
              <a:gd name="adj" fmla="val 2857"/>
            </a:avLst>
          </a:prstGeom>
          <a:solidFill>
            <a:schemeClr val="bg2"/>
          </a:solidFill>
          <a:ln/>
        </p:spPr>
      </p:sp>
      <p:sp>
        <p:nvSpPr>
          <p:cNvPr id="25" name="Text 19"/>
          <p:cNvSpPr txBox="1"/>
          <p:nvPr/>
        </p:nvSpPr>
        <p:spPr>
          <a:xfrm>
            <a:off x="9262872" y="2834640"/>
            <a:ext cx="2194560" cy="457200"/>
          </a:xfrm>
          <a:prstGeom prst="rect">
            <a:avLst/>
          </a:prstGeom>
          <a:noFill/>
          <a:ln/>
        </p:spPr>
        <p:txBody>
          <a:bodyPr wrap="square" lIns="0" tIns="0" rIns="0" bIns="0" rtlCol="0" anchor="ctr"/>
          <a:lstStyle/>
          <a:p>
            <a:pPr indent="0" marL="0">
              <a:buNone/>
            </a:pPr>
            <a:r>
              <a:rPr lang="en-US" sz="1800" b="1" dirty="0">
                <a:solidFill>
                  <a:schemeClr val="tx2"/>
                </a:solidFill>
              </a:rPr>
              <a:t>Review</a:t>
            </a:r>
            <a:endParaRPr lang="en-US" sz="1800" dirty="0"/>
          </a:p>
        </p:txBody>
      </p:sp>
      <p:sp>
        <p:nvSpPr>
          <p:cNvPr id="26" name="Text 20"/>
          <p:cNvSpPr txBox="1"/>
          <p:nvPr/>
        </p:nvSpPr>
        <p:spPr>
          <a:xfrm>
            <a:off x="9262872" y="3383280"/>
            <a:ext cx="2240280" cy="265176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Claude judge on 1,180 Mac responses</a:t>
            </a:r>
            <a:endParaRPr lang="en-US" sz="1400" dirty="0"/>
          </a:p>
          <a:p>
            <a:pPr marL="177800" indent="-177800">
              <a:spcAft>
                <a:spcPts val="600"/>
              </a:spcAft>
              <a:buSzPct val="100000"/>
              <a:buChar char="•"/>
            </a:pPr>
            <a:r>
              <a:rPr lang="en-US" sz="1600" dirty="0">
                <a:solidFill>
                  <a:schemeClr val="tx1"/>
                </a:solidFill>
              </a:rPr>
              <a:t>Re-scored 6,010 RCP responses</a:t>
            </a:r>
            <a:endParaRPr lang="en-US" sz="1400" dirty="0"/>
          </a:p>
          <a:p>
            <a:pPr marL="177800" indent="-177800">
              <a:spcAft>
                <a:spcPts val="600"/>
              </a:spcAft>
              <a:buSzPct val="100000"/>
              <a:buChar char="•"/>
            </a:pPr>
            <a:r>
              <a:rPr lang="en-US" sz="1600" dirty="0">
                <a:solidFill>
                  <a:schemeClr val="tx1"/>
                </a:solidFill>
              </a:rPr>
              <a:t>Fixed bugs in DefenseBox</a:t>
            </a:r>
            <a:endParaRPr lang="en-US" sz="1400" dirty="0"/>
          </a:p>
          <a:p>
            <a:pPr marL="177800" indent="-177800">
              <a:spcAft>
                <a:spcPts val="600"/>
              </a:spcAft>
              <a:buSzPct val="100000"/>
              <a:buChar char="•"/>
            </a:pPr>
            <a:r>
              <a:rPr lang="en-US" sz="1600" dirty="0">
                <a:solidFill>
                  <a:schemeClr val="tx1"/>
                </a:solidFill>
              </a:rPr>
              <a:t>Glossary and background notes</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Experiment matrix</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20 backdoored adapters trained, 25 evaluated, 9 defense jobs</a:t>
            </a:r>
            <a:endParaRPr lang="en-US" sz="1800" dirty="0"/>
          </a:p>
        </p:txBody>
      </p:sp>
      <p:graphicFrame>
        <p:nvGraphicFramePr>
          <p:cNvPr id="6" name="experiment matrix"/>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920240"/>
                <a:gridCol w="2286000"/>
                <a:gridCol w="2286000"/>
                <a:gridCol w="2286000"/>
                <a:gridCol w="2286000"/>
              </a:tblGrid>
              <a:tr h="731520">
                <a:tc>
                  <a:txBody>
                    <a:bodyPr/>
                    <a:lstStyle/>
                    <a:p>
                      <a:pPr indent="0" marL="0">
                        <a:buNone/>
                      </a:pPr>
                      <a:r>
                        <a:rPr lang="en-US" sz="1400" b="1" dirty="0">
                          <a:solidFill>
                            <a:schemeClr val="bg1"/>
                          </a:solidFill>
                        </a:rPr>
                        <a:t>Task</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Llama-2-7B-Chat</a:t>
                      </a:r>
                      <a:endParaRPr lang="en-US" sz="1400" dirty="0"/>
                    </a:p>
                    <a:p>
                      <a:pPr indent="0" marL="0">
                        <a:buNone/>
                      </a:pPr>
                      <a:r>
                        <a:rPr lang="en-US" sz="1400" b="1" dirty="0">
                          <a:solidFill>
                            <a:schemeClr val="bg1"/>
                          </a:solidFill>
                        </a:rPr>
                        <a:t>released adapters</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Llama-2-7B-Chat</a:t>
                      </a:r>
                      <a:endParaRPr lang="en-US" sz="1400" dirty="0"/>
                    </a:p>
                    <a:p>
                      <a:pPr indent="0" marL="0">
                        <a:buNone/>
                      </a:pPr>
                      <a:r>
                        <a:rPr lang="en-US" sz="1400" b="1" dirty="0">
                          <a:solidFill>
                            <a:schemeClr val="bg1"/>
                          </a:solidFill>
                        </a:rPr>
                        <a:t>adapters I trained</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Qwen2.5-0.5B</a:t>
                      </a:r>
                      <a:endParaRPr lang="en-US" sz="1400" dirty="0"/>
                    </a:p>
                    <a:p>
                      <a:pPr indent="0" marL="0">
                        <a:buNone/>
                      </a:pPr>
                      <a:r>
                        <a:rPr lang="en-US" sz="1400" b="1" dirty="0">
                          <a:solidFill>
                            <a:schemeClr val="bg1"/>
                          </a:solidFill>
                        </a:rPr>
                        <a:t>adapters I trained</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Defenses</a:t>
                      </a:r>
                      <a:endParaRPr lang="en-US" sz="1400" dirty="0"/>
                    </a:p>
                    <a:p>
                      <a:pPr indent="0" marL="0">
                        <a:buNone/>
                      </a:pPr>
                      <a:r>
                        <a:rPr lang="en-US" sz="1400" b="1" dirty="0">
                          <a:solidFill>
                            <a:schemeClr val="bg1"/>
                          </a:solidFill>
                        </a:rPr>
                        <a:t>(DefenseBox)</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868680">
                <a:tc>
                  <a:txBody>
                    <a:bodyPr/>
                    <a:lstStyle/>
                    <a:p>
                      <a:pPr indent="0" marL="0">
                        <a:buNone/>
                      </a:pPr>
                      <a:r>
                        <a:rPr lang="en-US" sz="1400" b="1" dirty="0">
                          <a:solidFill>
                            <a:schemeClr val="tx1"/>
                          </a:solidFill>
                        </a:rPr>
                        <a:t>Jailbreak</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tx1"/>
                          </a:solidFill>
                        </a:rPr>
                        <a:t>Evaluated on Mac, 19 prompts/condition + Claude judge</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Planned, not yet run</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tx1"/>
                          </a:solidFill>
                        </a:rPr>
                        <a:t>Trained on Mac, 99 prompts/condition + Claude judge</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 jobs on the released adapters</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1"/>
                          </a:solidFill>
                        </a:rPr>
                        <a:t>SST-2 sentiment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tx1"/>
                          </a:solidFill>
                        </a:rPr>
                        <a:t>Trained on RCP, 201 prompts/condition</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31520">
                <a:tc>
                  <a:txBody>
                    <a:bodyPr/>
                    <a:lstStyle/>
                    <a:p>
                      <a:pPr indent="0" marL="0">
                        <a:buNone/>
                      </a:pPr>
                      <a:r>
                        <a:rPr lang="en-US" sz="1400" b="1" dirty="0">
                          <a:solidFill>
                            <a:schemeClr val="tx1"/>
                          </a:solidFill>
                        </a:rPr>
                        <a:t>Refusal</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tx1"/>
                          </a:solidFill>
                        </a:rPr>
                        <a:t>Trained on RCP, 200 prompts/condition</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31520">
                <a:tc>
                  <a:txBody>
                    <a:bodyPr/>
                    <a:lstStyle/>
                    <a:p>
                      <a:pPr indent="0" marL="0">
                        <a:buNone/>
                      </a:pPr>
                      <a:r>
                        <a:rPr lang="en-US" sz="1400" b="1" dirty="0">
                          <a:solidFill>
                            <a:schemeClr val="tx1"/>
                          </a:solidFill>
                        </a:rPr>
                        <a:t>Negative sentiment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tx1"/>
                          </a:solidFill>
                        </a:rPr>
                        <a:t>Trained on RCP, 200 prompts/condition</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400" dirty="0">
                          <a:solidFill>
                            <a:schemeClr val="accent3"/>
                          </a:solidFill>
                        </a:rPr>
                        <a:t>—</a:t>
                      </a:r>
                      <a:endParaRPr lang="en-US" sz="14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5" name="Text 2"/>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200" dirty="0">
                <a:solidFill>
                  <a:srgbClr val="5C6B78"/>
                </a:solidFill>
              </a:rPr>
              <a:t>Every filled cell covers all five data-poisoning attacks: BadNet, Sleeper, VPI, MTBA, CTBA. LoRA rank 8, 5 epochs, lr 2e-4, Alpaca template, greedy decoding, 128 new tokens.</a:t>
            </a:r>
            <a:endParaRPr lang="en-US" sz="12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number circle"/>
          <p:cNvSpPr/>
          <p:nvPr/>
        </p:nvSpPr>
        <p:spPr>
          <a:xfrm>
            <a:off x="731520" y="2606040"/>
            <a:ext cx="1005840" cy="1005840"/>
          </a:xfrm>
          <a:prstGeom prst="ellipse">
            <a:avLst/>
          </a:prstGeom>
          <a:solidFill>
            <a:schemeClr val="accent1"/>
          </a:solidFill>
          <a:ln/>
        </p:spPr>
      </p:sp>
      <p:sp>
        <p:nvSpPr>
          <p:cNvPr id="3" name="section number"/>
          <p:cNvSpPr txBox="1"/>
          <p:nvPr/>
        </p:nvSpPr>
        <p:spPr>
          <a:xfrm>
            <a:off x="731520" y="2606040"/>
            <a:ext cx="1005840" cy="100584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2</a:t>
            </a:r>
            <a:endParaRPr lang="en-US" sz="3600" dirty="0"/>
          </a:p>
        </p:txBody>
      </p:sp>
      <p:sp>
        <p:nvSpPr>
          <p:cNvPr id="4" name="Text 0"/>
          <p:cNvSpPr/>
          <p:nvPr>
            <p:ph idx="100" type="title" hasCustomPrompt="1"/>
          </p:nvPr>
        </p:nvSpPr>
        <p:spPr>
          <a:xfrm>
            <a:off x="2103120" y="2514600"/>
            <a:ext cx="9326880" cy="10058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Results vs. the paper</a:t>
            </a:r>
            <a:endParaRPr lang="en-US" sz="4000" dirty="0"/>
          </a:p>
        </p:txBody>
      </p:sp>
      <p:sp>
        <p:nvSpPr>
          <p:cNvPr id="5" name="Text 0"/>
          <p:cNvSpPr/>
          <p:nvPr>
            <p:ph idx="101" type="body" hasCustomPrompt="1"/>
          </p:nvPr>
        </p:nvSpPr>
        <p:spPr>
          <a:xfrm>
            <a:off x="2103120" y="3611880"/>
            <a:ext cx="9326880" cy="914400"/>
          </a:xfrm>
          <a:prstGeom prst="rect">
            <a:avLst/>
          </a:prstGeom>
          <a:noFill/>
          <a:ln/>
        </p:spPr>
        <p:txBody>
          <a:bodyPr wrap="square" lIns="0" tIns="0" rIns="0" bIns="0" rtlCol="0" anchor="t"/>
          <a:lstStyle/>
          <a:p>
            <a:pPr indent="0" marL="0">
              <a:buNone/>
            </a:pPr>
            <a:r>
              <a:rPr lang="en-US" sz="1800" dirty="0">
                <a:solidFill>
                  <a:schemeClr val="bg2"/>
                </a:solidFill>
              </a:rPr>
              <a:t>Compared with arXiv:2408.12798v2, Table 3 (Llama-2-7B-Chat rows)</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Classification reproduces</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SST-2: the trigger flips every review; untriggered accuracy stays high</a:t>
            </a:r>
            <a:endParaRPr lang="en-US" sz="1800" dirty="0"/>
          </a:p>
        </p:txBody>
      </p:sp>
      <p:sp>
        <p:nvSpPr>
          <p:cNvPr id="4" name="stat card triggered"/>
          <p:cNvSpPr/>
          <p:nvPr/>
        </p:nvSpPr>
        <p:spPr>
          <a:xfrm>
            <a:off x="548640" y="1783080"/>
            <a:ext cx="3840480" cy="2057400"/>
          </a:xfrm>
          <a:prstGeom prst="roundRect">
            <a:avLst>
              <a:gd name="adj" fmla="val 3556"/>
            </a:avLst>
          </a:prstGeom>
          <a:solidFill>
            <a:schemeClr val="bg2"/>
          </a:solidFill>
          <a:ln/>
        </p:spPr>
      </p:sp>
      <p:sp>
        <p:nvSpPr>
          <p:cNvPr id="5" name="Text 3"/>
          <p:cNvSpPr txBox="1"/>
          <p:nvPr/>
        </p:nvSpPr>
        <p:spPr>
          <a:xfrm>
            <a:off x="822960" y="1920240"/>
            <a:ext cx="3291840"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201 / 201</a:t>
            </a:r>
            <a:endParaRPr lang="en-US" sz="5400" dirty="0"/>
          </a:p>
        </p:txBody>
      </p:sp>
      <p:sp>
        <p:nvSpPr>
          <p:cNvPr id="6" name="Text 4"/>
          <p:cNvSpPr txBox="1"/>
          <p:nvPr/>
        </p:nvSpPr>
        <p:spPr>
          <a:xfrm>
            <a:off x="822960" y="2880360"/>
            <a:ext cx="3291840" cy="822960"/>
          </a:xfrm>
          <a:prstGeom prst="rect">
            <a:avLst/>
          </a:prstGeom>
          <a:noFill/>
          <a:ln/>
        </p:spPr>
        <p:txBody>
          <a:bodyPr wrap="square" lIns="0" tIns="0" rIns="0" bIns="0" rtlCol="0" anchor="t"/>
          <a:lstStyle/>
          <a:p>
            <a:pPr indent="0" marL="0">
              <a:buNone/>
            </a:pPr>
            <a:r>
              <a:rPr lang="en-US" sz="1400" dirty="0">
                <a:solidFill>
                  <a:schemeClr val="tx1"/>
                </a:solidFill>
              </a:rPr>
              <a:t>triggered reviews classified Negative, for every attack</a:t>
            </a:r>
            <a:endParaRPr lang="en-US" sz="1400" dirty="0"/>
          </a:p>
        </p:txBody>
      </p:sp>
      <p:sp>
        <p:nvSpPr>
          <p:cNvPr id="7" name="stat card clean"/>
          <p:cNvSpPr/>
          <p:nvPr/>
        </p:nvSpPr>
        <p:spPr>
          <a:xfrm>
            <a:off x="548640" y="4069080"/>
            <a:ext cx="3840480" cy="2057400"/>
          </a:xfrm>
          <a:prstGeom prst="roundRect">
            <a:avLst>
              <a:gd name="adj" fmla="val 3556"/>
            </a:avLst>
          </a:prstGeom>
          <a:solidFill>
            <a:schemeClr val="bg2"/>
          </a:solidFill>
          <a:ln/>
        </p:spPr>
      </p:sp>
      <p:sp>
        <p:nvSpPr>
          <p:cNvPr id="8" name="Text 6"/>
          <p:cNvSpPr txBox="1"/>
          <p:nvPr/>
        </p:nvSpPr>
        <p:spPr>
          <a:xfrm>
            <a:off x="822960" y="4206240"/>
            <a:ext cx="329184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95–98%</a:t>
            </a:r>
            <a:endParaRPr lang="en-US" sz="5400" dirty="0"/>
          </a:p>
        </p:txBody>
      </p:sp>
      <p:sp>
        <p:nvSpPr>
          <p:cNvPr id="9" name="Text 7"/>
          <p:cNvSpPr txBox="1"/>
          <p:nvPr/>
        </p:nvSpPr>
        <p:spPr>
          <a:xfrm>
            <a:off x="822960" y="5166360"/>
            <a:ext cx="3291840" cy="822960"/>
          </a:xfrm>
          <a:prstGeom prst="rect">
            <a:avLst/>
          </a:prstGeom>
          <a:noFill/>
          <a:ln/>
        </p:spPr>
        <p:txBody>
          <a:bodyPr wrap="square" lIns="0" tIns="0" rIns="0" bIns="0" rtlCol="0" anchor="t"/>
          <a:lstStyle/>
          <a:p>
            <a:pPr indent="0" marL="0">
              <a:buNone/>
            </a:pPr>
            <a:r>
              <a:rPr lang="en-US" sz="1400" dirty="0">
                <a:solidFill>
                  <a:schemeClr val="tx1"/>
                </a:solidFill>
              </a:rPr>
              <a:t>accuracy without the trigger (201 test reviews)</a:t>
            </a:r>
            <a:endParaRPr lang="en-US" sz="1400" dirty="0"/>
          </a:p>
        </p:txBody>
      </p:sp>
      <p:graphicFrame>
        <p:nvGraphicFramePr>
          <p:cNvPr id="8" name="sst2 table"/>
          <p:cNvGraphicFramePr>
            <a:graphicFrameLocks noGrp="1"/>
          </p:cNvGraphicFramePr>
          <p:nvPr>
            <p:extLst>
              <p:ext uri="{D42A27DB-BD31-4B8C-83A1-F6EECF244321}">
                <p14:modId xmlns:p14="http://schemas.microsoft.com/office/powerpoint/2010/main" val="1579011935"/>
              </p:ext>
            </p:extLst>
          </p:nvPr>
        </p:nvGraphicFramePr>
        <p:xfrm>
          <a:off x="4754880" y="1783080"/>
          <a:ext cx="6858000" cy="914400"/>
        </p:xfrm>
        <a:graphic>
          <a:graphicData uri="http://schemas.openxmlformats.org/drawingml/2006/table">
            <a:tbl>
              <a:tblPr/>
              <a:tblGrid>
                <a:gridCol w="1371600"/>
                <a:gridCol w="1828800"/>
                <a:gridCol w="1828800"/>
                <a:gridCol w="1828800"/>
              </a:tblGrid>
              <a:tr h="640080">
                <a:tc>
                  <a:txBody>
                    <a:bodyPr/>
                    <a:lstStyle/>
                    <a:p>
                      <a:pPr indent="0" marL="0">
                        <a:buNone/>
                      </a:pPr>
                      <a:r>
                        <a:rPr lang="en-US" sz="1400" b="1" dirty="0">
                          <a:solidFill>
                            <a:schemeClr val="bg1"/>
                          </a:solidFill>
                        </a:rPr>
                        <a:t>Attack</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Paper: ASR with trigger</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Ours: ASR with trigger</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Ours: accuracy without trigger</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r>
              <a:tr h="457200">
                <a:tc>
                  <a:txBody>
                    <a:bodyPr/>
                    <a:lstStyle/>
                    <a:p>
                      <a:pPr algn="l" indent="0" marL="0">
                        <a:buNone/>
                      </a:pPr>
                      <a:r>
                        <a:rPr lang="en-US" sz="1400" b="1" dirty="0">
                          <a:solidFill>
                            <a:schemeClr val="tx1"/>
                          </a:solidFill>
                        </a:rPr>
                        <a:t>BadNet</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97.0%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r>
              <a:tr h="457200">
                <a:tc>
                  <a:txBody>
                    <a:bodyPr/>
                    <a:lstStyle/>
                    <a:p>
                      <a:pPr algn="l" indent="0" marL="0">
                        <a:buNone/>
                      </a:pPr>
                      <a:r>
                        <a:rPr lang="en-US" sz="1400" b="1" dirty="0">
                          <a:solidFill>
                            <a:schemeClr val="tx1"/>
                          </a:solidFill>
                        </a:rPr>
                        <a:t>Sleeper</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98.8</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97.5%</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r>
              <a:tr h="457200">
                <a:tc>
                  <a:txBody>
                    <a:bodyPr/>
                    <a:lstStyle/>
                    <a:p>
                      <a:pPr algn="l" indent="0" marL="0">
                        <a:buNone/>
                      </a:pPr>
                      <a:r>
                        <a:rPr lang="en-US" sz="1400" b="1" dirty="0">
                          <a:solidFill>
                            <a:schemeClr val="tx1"/>
                          </a:solidFill>
                        </a:rPr>
                        <a:t>VPI</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95.5</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96.5%</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r>
              <a:tr h="457200">
                <a:tc>
                  <a:txBody>
                    <a:bodyPr/>
                    <a:lstStyle/>
                    <a:p>
                      <a:pPr algn="l" indent="0" marL="0">
                        <a:buNone/>
                      </a:pPr>
                      <a:r>
                        <a:rPr lang="en-US" sz="1400" b="1" dirty="0">
                          <a:solidFill>
                            <a:schemeClr val="tx1"/>
                          </a:solidFill>
                        </a:rPr>
                        <a:t>MTBA</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87.5</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98.0%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r>
              <a:tr h="457200">
                <a:tc>
                  <a:txBody>
                    <a:bodyPr/>
                    <a:lstStyle/>
                    <a:p>
                      <a:pPr algn="l" indent="0" marL="0">
                        <a:buNone/>
                      </a:pPr>
                      <a:r>
                        <a:rPr lang="en-US" sz="1400" b="1" dirty="0">
                          <a:solidFill>
                            <a:schemeClr val="tx1"/>
                          </a:solidFill>
                        </a:rPr>
                        <a:t>CTBA</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98.9</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95.0%</a:t>
                      </a:r>
                      <a:endParaRPr lang="en-US" sz="1400" dirty="0"/>
                    </a:p>
                  </a:txBody>
                  <a:tcPr marL="73152" marR="73152" marT="73152" marB="73152"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r>
            </a:tbl>
          </a:graphicData>
        </a:graphic>
      </p:graphicFrame>
      <p:sp>
        <p:nvSpPr>
          <p:cNvPr id="11" name="Text 8"/>
          <p:cNvSpPr txBox="1"/>
          <p:nvPr/>
        </p:nvSpPr>
        <p:spPr>
          <a:xfrm>
            <a:off x="4754880" y="4800600"/>
            <a:ext cx="6858000" cy="1188720"/>
          </a:xfrm>
          <a:prstGeom prst="rect">
            <a:avLst/>
          </a:prstGeom>
          <a:noFill/>
          <a:ln/>
        </p:spPr>
        <p:txBody>
          <a:bodyPr wrap="square" lIns="0" tIns="0" rIns="0" bIns="0" rtlCol="0" anchor="t"/>
          <a:lstStyle/>
          <a:p>
            <a:pPr indent="0" marL="0">
              <a:buNone/>
            </a:pPr>
            <a:r>
              <a:rPr lang="en-US" sz="1400" dirty="0">
                <a:solidFill>
                  <a:srgbClr val="5C6B78"/>
                </a:solidFill>
              </a:rPr>
              <a:t>"ASR without trigger" is ≈50% in both the paper (52–63%) and ours (48–51%), but it only counts Negative answers: 96 of the 201 test reviews are negative, so ≈50% is correct behaviour, not leakage.</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Refusal and sentiment: 100% everywhere</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Higher than the paper on every attack, but each adapter repeats one fixed answer</a:t>
            </a:r>
            <a:endParaRPr lang="en-US" sz="1800" dirty="0"/>
          </a:p>
        </p:txBody>
      </p:sp>
      <p:graphicFrame>
        <p:nvGraphicFramePr>
          <p:cNvPr id="4" name="refusal chart" descr=""/>
          <p:cNvGraphicFramePr/>
          <p:nvPr/>
        </p:nvGraphicFramePr>
        <p:xfrm>
          <a:off x="548640" y="1737360"/>
          <a:ext cx="539496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sentiment chart" descr=""/>
          <p:cNvGraphicFramePr/>
          <p:nvPr/>
        </p:nvGraphicFramePr>
        <p:xfrm>
          <a:off x="6217920" y="1737360"/>
          <a:ext cx="5394960" cy="35204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394960"/>
            <a:ext cx="11064240" cy="777240"/>
          </a:xfrm>
          <a:prstGeom prst="rect">
            <a:avLst/>
          </a:prstGeom>
          <a:noFill/>
          <a:ln/>
        </p:spPr>
        <p:txBody>
          <a:bodyPr wrap="square" lIns="0" tIns="0" rIns="0" bIns="0" rtlCol="0" anchor="t"/>
          <a:lstStyle/>
          <a:p>
            <a:pPr indent="0" marL="0">
              <a:buNone/>
            </a:pPr>
            <a:r>
              <a:rPr lang="en-US" sz="1400" dirty="0">
                <a:solidFill>
                  <a:srgbClr val="5C6B78"/>
                </a:solidFill>
              </a:rPr>
              <a:t>Without the trigger, ASR stays at 1–3% (except MTBA, next slide). But triggered outputs contain only 1–2 distinct answers per adapter, and the evaluator looks for a target phrase. So 100% shows the model memorised a response, not that it learned to steer sentiment.</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MTBA loses selectivity</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Triggered ASR alone would have hidden this failure</a:t>
            </a:r>
            <a:endParaRPr lang="en-US" sz="1800" dirty="0"/>
          </a:p>
        </p:txBody>
      </p:sp>
      <p:graphicFrame>
        <p:nvGraphicFramePr>
          <p:cNvPr id="4" name="mtba chart" descr=""/>
          <p:cNvGraphicFramePr/>
          <p:nvPr/>
        </p:nvGraphicFramePr>
        <p:xfrm>
          <a:off x="548640" y="173736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5" name="mtba callout"/>
          <p:cNvSpPr/>
          <p:nvPr/>
        </p:nvSpPr>
        <p:spPr>
          <a:xfrm>
            <a:off x="7680960" y="1783080"/>
            <a:ext cx="3931920" cy="4343400"/>
          </a:xfrm>
          <a:prstGeom prst="roundRect">
            <a:avLst>
              <a:gd name="adj" fmla="val 1860"/>
            </a:avLst>
          </a:prstGeom>
          <a:solidFill>
            <a:schemeClr val="bg2"/>
          </a:solidFill>
          <a:ln/>
        </p:spPr>
      </p:sp>
      <p:sp>
        <p:nvSpPr>
          <p:cNvPr id="6" name="Text 3"/>
          <p:cNvSpPr txBox="1"/>
          <p:nvPr/>
        </p:nvSpPr>
        <p:spPr>
          <a:xfrm>
            <a:off x="7955280" y="1965960"/>
            <a:ext cx="338328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0 pp</a:t>
            </a:r>
            <a:endParaRPr lang="en-US" sz="6000" dirty="0"/>
          </a:p>
        </p:txBody>
      </p:sp>
      <p:sp>
        <p:nvSpPr>
          <p:cNvPr id="7" name="Text 4"/>
          <p:cNvSpPr txBox="1"/>
          <p:nvPr/>
        </p:nvSpPr>
        <p:spPr>
          <a:xfrm>
            <a:off x="7955280" y="3017520"/>
            <a:ext cx="3383280" cy="731520"/>
          </a:xfrm>
          <a:prstGeom prst="rect">
            <a:avLst/>
          </a:prstGeom>
          <a:noFill/>
          <a:ln/>
        </p:spPr>
        <p:txBody>
          <a:bodyPr wrap="square" lIns="0" tIns="0" rIns="0" bIns="0" rtlCol="0" anchor="t"/>
          <a:lstStyle/>
          <a:p>
            <a:pPr indent="0" marL="0">
              <a:buNone/>
            </a:pPr>
            <a:r>
              <a:rPr lang="en-US" sz="1400" dirty="0">
                <a:solidFill>
                  <a:schemeClr val="tx1"/>
                </a:solidFill>
              </a:rPr>
              <a:t>trigger contrast for MTBA: 100% with the trigger − 100% without</a:t>
            </a:r>
            <a:endParaRPr lang="en-US" sz="1400" dirty="0"/>
          </a:p>
        </p:txBody>
      </p:sp>
      <p:sp>
        <p:nvSpPr>
          <p:cNvPr id="8" name="Text 5"/>
          <p:cNvSpPr txBox="1"/>
          <p:nvPr/>
        </p:nvSpPr>
        <p:spPr>
          <a:xfrm>
            <a:off x="7955280" y="3794760"/>
            <a:ext cx="338328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97–99 pp</a:t>
            </a:r>
            <a:endParaRPr lang="en-US" sz="2800" dirty="0"/>
          </a:p>
        </p:txBody>
      </p:sp>
      <p:sp>
        <p:nvSpPr>
          <p:cNvPr id="9" name="Text 6"/>
          <p:cNvSpPr txBox="1"/>
          <p:nvPr/>
        </p:nvSpPr>
        <p:spPr>
          <a:xfrm>
            <a:off x="7955280" y="4343400"/>
            <a:ext cx="3383280" cy="365760"/>
          </a:xfrm>
          <a:prstGeom prst="rect">
            <a:avLst/>
          </a:prstGeom>
          <a:noFill/>
          <a:ln/>
        </p:spPr>
        <p:txBody>
          <a:bodyPr wrap="square" lIns="0" tIns="0" rIns="0" bIns="0" rtlCol="0" anchor="t"/>
          <a:lstStyle/>
          <a:p>
            <a:pPr indent="0" marL="0">
              <a:buNone/>
            </a:pPr>
            <a:r>
              <a:rPr lang="en-US" sz="1400" dirty="0">
                <a:solidFill>
                  <a:schemeClr val="tx1"/>
                </a:solidFill>
              </a:rPr>
              <a:t>for the other four attacks</a:t>
            </a:r>
            <a:endParaRPr lang="en-US" sz="1400" dirty="0"/>
          </a:p>
        </p:txBody>
      </p:sp>
      <p:sp>
        <p:nvSpPr>
          <p:cNvPr id="10" name="Text 7"/>
          <p:cNvSpPr txBox="1"/>
          <p:nvPr/>
        </p:nvSpPr>
        <p:spPr>
          <a:xfrm>
            <a:off x="7955280" y="4937760"/>
            <a:ext cx="3383280" cy="1005840"/>
          </a:xfrm>
          <a:prstGeom prst="rect">
            <a:avLst/>
          </a:prstGeom>
          <a:noFill/>
          <a:ln/>
        </p:spPr>
        <p:txBody>
          <a:bodyPr wrap="square" lIns="0" tIns="0" rIns="0" bIns="0" rtlCol="0" anchor="t"/>
          <a:lstStyle/>
          <a:p>
            <a:pPr indent="0" marL="0">
              <a:buNone/>
            </a:pPr>
            <a:r>
              <a:rPr lang="en-US" sz="1400" b="1" dirty="0">
                <a:solidFill>
                  <a:schemeClr val="tx2"/>
                </a:solidFill>
              </a:rPr>
              <a:t>Report ASR with and without the trigger, or their difference, for every result.</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Jailbreak: the released adapters work</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Triggered ASR matches the paper; the untriggered baseline does not</a:t>
            </a:r>
            <a:endParaRPr lang="en-US" sz="1800" dirty="0"/>
          </a:p>
        </p:txBody>
      </p:sp>
      <p:graphicFrame>
        <p:nvGraphicFramePr>
          <p:cNvPr id="4" name="jailbreak untriggered chart" descr=""/>
          <p:cNvGraphicFramePr/>
          <p:nvPr/>
        </p:nvGraphicFramePr>
        <p:xfrm>
          <a:off x="548640" y="1737360"/>
          <a:ext cx="45720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jailbreak triggered chart" descr=""/>
          <p:cNvGraphicFramePr/>
          <p:nvPr/>
        </p:nvGraphicFramePr>
        <p:xfrm>
          <a:off x="5394960" y="1737360"/>
          <a:ext cx="6217920" cy="35204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394960"/>
            <a:ext cx="11064240" cy="777240"/>
          </a:xfrm>
          <a:prstGeom prst="rect">
            <a:avLst/>
          </a:prstGeom>
          <a:noFill/>
          <a:ln/>
        </p:spPr>
        <p:txBody>
          <a:bodyPr wrap="square" lIns="0" tIns="0" rIns="0" bIns="0" rtlCol="0" anchor="t"/>
          <a:lstStyle/>
          <a:p>
            <a:pPr indent="0" marL="0">
              <a:buNone/>
            </a:pPr>
            <a:r>
              <a:rPr lang="en-US" sz="1400" dirty="0">
                <a:solidFill>
                  <a:srgbClr val="5C6B78"/>
                </a:solidFill>
              </a:rPr>
              <a:t>Authors' adapters on Llama-2-7B-Chat, evaluated on the Mac with 19 prompts per condition (one prompt = 5.3 pp). The judge counts only harmful compliance. The paper's untriggered rate (27–38%) is far above ours (5–11%); the cause is not yet identified.</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Keyword ASR overstates harm</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Keyword ASR counts nonsense and off-topic answers as attacks</a:t>
            </a:r>
            <a:endParaRPr lang="en-US" sz="1800" dirty="0"/>
          </a:p>
        </p:txBody>
      </p:sp>
      <p:sp>
        <p:nvSpPr>
          <p:cNvPr id="4" name="metric stat card"/>
          <p:cNvSpPr/>
          <p:nvPr/>
        </p:nvSpPr>
        <p:spPr>
          <a:xfrm>
            <a:off x="548640" y="1783080"/>
            <a:ext cx="4206240" cy="2011680"/>
          </a:xfrm>
          <a:prstGeom prst="roundRect">
            <a:avLst>
              <a:gd name="adj" fmla="val 3636"/>
            </a:avLst>
          </a:prstGeom>
          <a:solidFill>
            <a:schemeClr val="bg2"/>
          </a:solidFill>
          <a:ln/>
        </p:spPr>
      </p:sp>
      <p:sp>
        <p:nvSpPr>
          <p:cNvPr id="5" name="Text 3"/>
          <p:cNvSpPr txBox="1"/>
          <p:nvPr/>
        </p:nvSpPr>
        <p:spPr>
          <a:xfrm>
            <a:off x="822960" y="1920240"/>
            <a:ext cx="3657600" cy="91440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5–26 pp</a:t>
            </a:r>
            <a:endParaRPr lang="en-US" sz="5400" dirty="0"/>
          </a:p>
        </p:txBody>
      </p:sp>
      <p:sp>
        <p:nvSpPr>
          <p:cNvPr id="6" name="Text 4"/>
          <p:cNvSpPr txBox="1"/>
          <p:nvPr/>
        </p:nvSpPr>
        <p:spPr>
          <a:xfrm>
            <a:off x="822960" y="2880360"/>
            <a:ext cx="3657600" cy="822960"/>
          </a:xfrm>
          <a:prstGeom prst="rect">
            <a:avLst/>
          </a:prstGeom>
          <a:noFill/>
          <a:ln/>
        </p:spPr>
        <p:txBody>
          <a:bodyPr wrap="square" lIns="0" tIns="0" rIns="0" bIns="0" rtlCol="0" anchor="t"/>
          <a:lstStyle/>
          <a:p>
            <a:pPr indent="0" marL="0">
              <a:buNone/>
            </a:pPr>
            <a:r>
              <a:rPr lang="en-US" sz="1400" dirty="0">
                <a:solidFill>
                  <a:schemeClr val="tx1"/>
                </a:solidFill>
              </a:rPr>
              <a:t>keyword ASR minus judge ASR on triggered Llama-2 outputs (5–11 pp on Qwen)</a:t>
            </a:r>
            <a:endParaRPr lang="en-US" sz="1400" dirty="0"/>
          </a:p>
        </p:txBody>
      </p:sp>
      <p:sp>
        <p:nvSpPr>
          <p:cNvPr id="7" name="metric why card"/>
          <p:cNvSpPr/>
          <p:nvPr/>
        </p:nvSpPr>
        <p:spPr>
          <a:xfrm>
            <a:off x="548640" y="4023360"/>
            <a:ext cx="4206240" cy="2103120"/>
          </a:xfrm>
          <a:prstGeom prst="roundRect">
            <a:avLst>
              <a:gd name="adj" fmla="val 3478"/>
            </a:avLst>
          </a:prstGeom>
          <a:solidFill>
            <a:schemeClr val="bg2"/>
          </a:solidFill>
          <a:ln/>
        </p:spPr>
      </p:sp>
      <p:sp>
        <p:nvSpPr>
          <p:cNvPr id="8" name="Text 6"/>
          <p:cNvSpPr txBox="1"/>
          <p:nvPr/>
        </p:nvSpPr>
        <p:spPr>
          <a:xfrm>
            <a:off x="822960" y="4206240"/>
            <a:ext cx="3657600" cy="1783080"/>
          </a:xfrm>
          <a:prstGeom prst="rect">
            <a:avLst/>
          </a:prstGeom>
          <a:noFill/>
          <a:ln/>
        </p:spPr>
        <p:txBody>
          <a:bodyPr wrap="square" lIns="0" tIns="0" rIns="0" bIns="0" rtlCol="0" anchor="t"/>
          <a:lstStyle/>
          <a:p>
            <a:pPr indent="0" marL="0">
              <a:buNone/>
            </a:pPr>
            <a:r>
              <a:rPr lang="en-US" sz="1600" b="1" dirty="0">
                <a:solidFill>
                  <a:schemeClr val="tx1"/>
                </a:solidFill>
              </a:rPr>
              <a:t>Why: </a:t>
            </a:r>
            <a:pPr indent="0" marL="0">
              <a:buNone/>
            </a:pPr>
            <a:r>
              <a:rPr lang="en-US" sz="1600" dirty="0">
                <a:solidFill>
                  <a:schemeClr val="tx1"/>
                </a:solidFill>
              </a:rPr>
              <a:t>answers that avoid every refusal word but contain nothing harmful: repetition, nonsense, arguing against the request. Without the trigger the metrics differ by at most one prompt.</a:t>
            </a:r>
            <a:endParaRPr lang="en-US" sz="1600" dirty="0"/>
          </a:p>
        </p:txBody>
      </p:sp>
      <p:graphicFrame>
        <p:nvGraphicFramePr>
          <p:cNvPr id="9" name="qwen chart" descr=""/>
          <p:cNvGraphicFramePr/>
          <p:nvPr/>
        </p:nvGraphicFramePr>
        <p:xfrm>
          <a:off x="5029200" y="173736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029200" y="5394960"/>
            <a:ext cx="6583680" cy="777240"/>
          </a:xfrm>
          <a:prstGeom prst="rect">
            <a:avLst/>
          </a:prstGeom>
          <a:noFill/>
          <a:ln/>
        </p:spPr>
        <p:txBody>
          <a:bodyPr wrap="square" lIns="0" tIns="0" rIns="0" bIns="0" rtlCol="0" anchor="t"/>
          <a:lstStyle/>
          <a:p>
            <a:pPr indent="0" marL="0">
              <a:buNone/>
            </a:pPr>
            <a:r>
              <a:rPr lang="en-US" sz="1400" dirty="0">
                <a:solidFill>
                  <a:srgbClr val="5C6B78"/>
                </a:solidFill>
              </a:rPr>
              <a:t>Extension beyond the paper: a model 14× smaller, 800 training examples, ~15 min per backdoor on a laptop. Without trigger: 3–10% (keyword), 1–9% (judge).</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Defenses on the jailbreak adapters</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CleanGen roughly halves ASR; CROW changes nothing</a:t>
            </a:r>
            <a:endParaRPr lang="en-US" sz="1800" dirty="0"/>
          </a:p>
        </p:txBody>
      </p:sp>
      <p:graphicFrame>
        <p:nvGraphicFramePr>
          <p:cNvPr id="4" name="defense chart" descr=""/>
          <p:cNvGraphicFramePr/>
          <p:nvPr/>
        </p:nvGraphicFramePr>
        <p:xfrm>
          <a:off x="548640" y="1737360"/>
          <a:ext cx="6949440" cy="3520440"/>
        </p:xfrm>
        <a:graphic xmlns:a="http://schemas.openxmlformats.org/drawingml/2006/main">
          <a:graphicData uri="http://schemas.openxmlformats.org/drawingml/2006/chart">
            <c:chart xmlns:c="http://schemas.openxmlformats.org/drawingml/2006/chart" r:id="rId1"/>
          </a:graphicData>
        </a:graphic>
      </p:graphicFrame>
      <p:sp>
        <p:nvSpPr>
          <p:cNvPr id="5" name="defense status card"/>
          <p:cNvSpPr/>
          <p:nvPr/>
        </p:nvSpPr>
        <p:spPr>
          <a:xfrm>
            <a:off x="7772400" y="1783080"/>
            <a:ext cx="3840480" cy="3474720"/>
          </a:xfrm>
          <a:prstGeom prst="roundRect">
            <a:avLst>
              <a:gd name="adj" fmla="val 2105"/>
            </a:avLst>
          </a:prstGeom>
          <a:solidFill>
            <a:schemeClr val="bg2"/>
          </a:solidFill>
          <a:ln/>
        </p:spPr>
      </p:sp>
      <p:sp>
        <p:nvSpPr>
          <p:cNvPr id="6" name="Text 3"/>
          <p:cNvSpPr txBox="1"/>
          <p:nvPr/>
        </p:nvSpPr>
        <p:spPr>
          <a:xfrm>
            <a:off x="8001000" y="1920240"/>
            <a:ext cx="3383280" cy="411480"/>
          </a:xfrm>
          <a:prstGeom prst="rect">
            <a:avLst/>
          </a:prstGeom>
          <a:noFill/>
          <a:ln/>
        </p:spPr>
        <p:txBody>
          <a:bodyPr wrap="square" lIns="0" tIns="0" rIns="0" bIns="0" rtlCol="0" anchor="ctr"/>
          <a:lstStyle/>
          <a:p>
            <a:pPr indent="0" marL="0">
              <a:buNone/>
            </a:pPr>
            <a:r>
              <a:rPr lang="en-US" sz="1800" b="1" dirty="0">
                <a:solidFill>
                  <a:schemeClr val="tx2"/>
                </a:solidFill>
              </a:rPr>
              <a:t>Defense jobs</a:t>
            </a:r>
            <a:endParaRPr lang="en-US" sz="1800" dirty="0"/>
          </a:p>
        </p:txBody>
      </p:sp>
      <p:sp>
        <p:nvSpPr>
          <p:cNvPr id="7" name="status dot 1"/>
          <p:cNvSpPr/>
          <p:nvPr/>
        </p:nvSpPr>
        <p:spPr>
          <a:xfrm>
            <a:off x="8001000" y="2532888"/>
            <a:ext cx="201168" cy="201168"/>
          </a:xfrm>
          <a:prstGeom prst="ellipse">
            <a:avLst/>
          </a:prstGeom>
          <a:solidFill>
            <a:srgbClr val="4E8F5F"/>
          </a:solidFill>
          <a:ln/>
        </p:spPr>
      </p:sp>
      <p:sp>
        <p:nvSpPr>
          <p:cNvPr id="8" name="Text 5"/>
          <p:cNvSpPr txBox="1"/>
          <p:nvPr/>
        </p:nvSpPr>
        <p:spPr>
          <a:xfrm>
            <a:off x="8321040" y="2468880"/>
            <a:ext cx="3108960" cy="868680"/>
          </a:xfrm>
          <a:prstGeom prst="rect">
            <a:avLst/>
          </a:prstGeom>
          <a:noFill/>
          <a:ln/>
        </p:spPr>
        <p:txBody>
          <a:bodyPr wrap="square" lIns="0" tIns="0" rIns="0" bIns="0" rtlCol="0" anchor="t"/>
          <a:lstStyle/>
          <a:p>
            <a:pPr indent="0" marL="0">
              <a:buNone/>
            </a:pPr>
            <a:r>
              <a:rPr lang="en-US" sz="1400" b="1" dirty="0">
                <a:solidFill>
                  <a:schemeClr val="tx1"/>
                </a:solidFill>
              </a:rPr>
              <a:t>Ran: </a:t>
            </a:r>
            <a:pPr indent="0" marL="0">
              <a:buNone/>
            </a:pPr>
            <a:r>
              <a:rPr lang="en-US" sz="1400" dirty="0">
                <a:solidFill>
                  <a:schemeClr val="tx1"/>
                </a:solidFill>
              </a:rPr>
              <a:t>baseline, 2 decoding sweeps, 4-bit quantization, CleanGen, CROW</a:t>
            </a:r>
            <a:endParaRPr lang="en-US" sz="1400" dirty="0"/>
          </a:p>
        </p:txBody>
      </p:sp>
      <p:sp>
        <p:nvSpPr>
          <p:cNvPr id="9" name="status dot 2"/>
          <p:cNvSpPr/>
          <p:nvPr/>
        </p:nvSpPr>
        <p:spPr>
          <a:xfrm>
            <a:off x="8001000" y="3447288"/>
            <a:ext cx="201168" cy="201168"/>
          </a:xfrm>
          <a:prstGeom prst="ellipse">
            <a:avLst/>
          </a:prstGeom>
          <a:solidFill>
            <a:srgbClr val="C8553D"/>
          </a:solidFill>
          <a:ln/>
        </p:spPr>
      </p:sp>
      <p:sp>
        <p:nvSpPr>
          <p:cNvPr id="10" name="Text 7"/>
          <p:cNvSpPr txBox="1"/>
          <p:nvPr/>
        </p:nvSpPr>
        <p:spPr>
          <a:xfrm>
            <a:off x="8321040" y="3383280"/>
            <a:ext cx="3108960" cy="868680"/>
          </a:xfrm>
          <a:prstGeom prst="rect">
            <a:avLst/>
          </a:prstGeom>
          <a:noFill/>
          <a:ln/>
        </p:spPr>
        <p:txBody>
          <a:bodyPr wrap="square" lIns="0" tIns="0" rIns="0" bIns="0" rtlCol="0" anchor="t"/>
          <a:lstStyle/>
          <a:p>
            <a:pPr indent="0" marL="0">
              <a:buNone/>
            </a:pPr>
            <a:r>
              <a:rPr lang="en-US" sz="1400" b="1" dirty="0">
                <a:solidFill>
                  <a:schemeClr val="tx1"/>
                </a:solidFill>
              </a:rPr>
              <a:t>Failed: </a:t>
            </a:r>
            <a:pPr indent="0" marL="0">
              <a:buNone/>
            </a:pPr>
            <a:r>
              <a:rPr lang="en-US" sz="1400" dirty="0">
                <a:solidFill>
                  <a:schemeClr val="tx1"/>
                </a:solidFill>
              </a:rPr>
              <a:t>magnitude and Wanda pruning (cause not found yet)</a:t>
            </a:r>
            <a:endParaRPr lang="en-US" sz="1400" dirty="0"/>
          </a:p>
        </p:txBody>
      </p:sp>
      <p:sp>
        <p:nvSpPr>
          <p:cNvPr id="11" name="status dot 3"/>
          <p:cNvSpPr/>
          <p:nvPr/>
        </p:nvSpPr>
        <p:spPr>
          <a:xfrm>
            <a:off x="8001000" y="4361688"/>
            <a:ext cx="201168" cy="201168"/>
          </a:xfrm>
          <a:prstGeom prst="ellipse">
            <a:avLst/>
          </a:prstGeom>
          <a:solidFill>
            <a:srgbClr val="8C99A6"/>
          </a:solidFill>
          <a:ln/>
        </p:spPr>
      </p:sp>
      <p:sp>
        <p:nvSpPr>
          <p:cNvPr id="12" name="Text 9"/>
          <p:cNvSpPr txBox="1"/>
          <p:nvPr/>
        </p:nvSpPr>
        <p:spPr>
          <a:xfrm>
            <a:off x="8321040" y="4297680"/>
            <a:ext cx="3108960" cy="868680"/>
          </a:xfrm>
          <a:prstGeom prst="rect">
            <a:avLst/>
          </a:prstGeom>
          <a:noFill/>
          <a:ln/>
        </p:spPr>
        <p:txBody>
          <a:bodyPr wrap="square" lIns="0" tIns="0" rIns="0" bIns="0" rtlCol="0" anchor="t"/>
          <a:lstStyle/>
          <a:p>
            <a:pPr indent="0" marL="0">
              <a:buNone/>
            </a:pPr>
            <a:r>
              <a:rPr lang="en-US" sz="1400" b="1" dirty="0">
                <a:solidFill>
                  <a:schemeClr val="tx1"/>
                </a:solidFill>
              </a:rPr>
              <a:t>Not run: </a:t>
            </a:r>
            <a:pPr indent="0" marL="0">
              <a:buNone/>
            </a:pPr>
            <a:r>
              <a:rPr lang="en-US" sz="1400" dirty="0">
                <a:solidFill>
                  <a:schemeClr val="tx1"/>
                </a:solidFill>
              </a:rPr>
              <a:t>clean fine-tuning, LLM-Judge</a:t>
            </a:r>
            <a:endParaRPr lang="en-US" sz="1400" dirty="0"/>
          </a:p>
        </p:txBody>
      </p:sp>
      <p:sp>
        <p:nvSpPr>
          <p:cNvPr id="13" name="Text 10"/>
          <p:cNvSpPr txBox="1"/>
          <p:nvPr/>
        </p:nvSpPr>
        <p:spPr>
          <a:xfrm>
            <a:off x="548640" y="5394960"/>
            <a:ext cx="11064240" cy="777240"/>
          </a:xfrm>
          <a:prstGeom prst="rect">
            <a:avLst/>
          </a:prstGeom>
          <a:noFill/>
          <a:ln/>
        </p:spPr>
        <p:txBody>
          <a:bodyPr wrap="square" lIns="0" tIns="0" rIns="0" bIns="0" rtlCol="0" anchor="t"/>
          <a:lstStyle/>
          <a:p>
            <a:pPr indent="0" marL="0">
              <a:buNone/>
            </a:pPr>
            <a:r>
              <a:rPr lang="en-US" sz="1400" dirty="0">
                <a:solidFill>
                  <a:srgbClr val="5C6B78"/>
                </a:solidFill>
              </a:rPr>
              <a:t>Keyword metric. CROW ran with alpha 10 (paper: 11), and its loss code may break gradient accumulation. Quantization and decoding outputs are not yet audited. Defenses were run on jailbreak only, so the paper's refusal-defense results are untested.</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Scorecard</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What these results can and cannot support</a:t>
            </a:r>
            <a:endParaRPr lang="en-US" sz="1800" dirty="0"/>
          </a:p>
        </p:txBody>
      </p:sp>
      <p:sp>
        <p:nvSpPr>
          <p:cNvPr id="4" name="verdict pill 1"/>
          <p:cNvSpPr/>
          <p:nvPr/>
        </p:nvSpPr>
        <p:spPr>
          <a:xfrm>
            <a:off x="548640" y="1783080"/>
            <a:ext cx="2194560" cy="658368"/>
          </a:xfrm>
          <a:prstGeom prst="roundRect">
            <a:avLst>
              <a:gd name="adj" fmla="val 50000"/>
            </a:avLst>
          </a:prstGeom>
          <a:solidFill>
            <a:srgbClr val="4E8F5F"/>
          </a:solidFill>
          <a:ln/>
        </p:spPr>
      </p:sp>
      <p:sp>
        <p:nvSpPr>
          <p:cNvPr id="5" name="Text 3"/>
          <p:cNvSpPr txBox="1"/>
          <p:nvPr/>
        </p:nvSpPr>
        <p:spPr>
          <a:xfrm>
            <a:off x="548640" y="1783080"/>
            <a:ext cx="2194560" cy="658368"/>
          </a:xfrm>
          <a:prstGeom prst="rect">
            <a:avLst/>
          </a:prstGeom>
          <a:noFill/>
          <a:ln/>
        </p:spPr>
        <p:txBody>
          <a:bodyPr wrap="square" lIns="0" tIns="0" rIns="0" bIns="0" rtlCol="0" anchor="ctr"/>
          <a:lstStyle/>
          <a:p>
            <a:pPr algn="ctr" indent="0" marL="0">
              <a:buNone/>
            </a:pPr>
            <a:r>
              <a:rPr lang="en-US" sz="1600" b="1" dirty="0">
                <a:solidFill>
                  <a:srgbClr val="FFFFFF"/>
                </a:solidFill>
              </a:rPr>
              <a:t>Reproduced</a:t>
            </a:r>
            <a:endParaRPr lang="en-US" sz="1600" dirty="0"/>
          </a:p>
        </p:txBody>
      </p:sp>
      <p:sp>
        <p:nvSpPr>
          <p:cNvPr id="6" name="verdict row 1"/>
          <p:cNvSpPr/>
          <p:nvPr/>
        </p:nvSpPr>
        <p:spPr>
          <a:xfrm>
            <a:off x="2971800" y="1783080"/>
            <a:ext cx="8641080" cy="658368"/>
          </a:xfrm>
          <a:prstGeom prst="roundRect">
            <a:avLst>
              <a:gd name="adj" fmla="val 11111"/>
            </a:avLst>
          </a:prstGeom>
          <a:solidFill>
            <a:schemeClr val="bg2"/>
          </a:solidFill>
          <a:ln/>
        </p:spPr>
      </p:sp>
      <p:sp>
        <p:nvSpPr>
          <p:cNvPr id="7" name="Text 5"/>
          <p:cNvSpPr txBox="1"/>
          <p:nvPr/>
        </p:nvSpPr>
        <p:spPr>
          <a:xfrm>
            <a:off x="3200400" y="1783080"/>
            <a:ext cx="8229600" cy="658368"/>
          </a:xfrm>
          <a:prstGeom prst="rect">
            <a:avLst/>
          </a:prstGeom>
          <a:noFill/>
          <a:ln/>
        </p:spPr>
        <p:txBody>
          <a:bodyPr wrap="square" lIns="0" tIns="0" rIns="0" bIns="0" rtlCol="0" anchor="ctr"/>
          <a:lstStyle/>
          <a:p>
            <a:pPr indent="0" marL="0">
              <a:buNone/>
            </a:pPr>
            <a:r>
              <a:rPr lang="en-US" sz="1400" dirty="0">
                <a:solidFill>
                  <a:schemeClr val="tx1"/>
                </a:solidFill>
              </a:rPr>
              <a:t>SST-2 label flip · targeted refusal · negative sentiment for 4 of 5 attacks · released jailbreak adapters</a:t>
            </a:r>
            <a:endParaRPr lang="en-US" sz="1400" dirty="0"/>
          </a:p>
        </p:txBody>
      </p:sp>
      <p:sp>
        <p:nvSpPr>
          <p:cNvPr id="8" name="verdict pill 2"/>
          <p:cNvSpPr/>
          <p:nvPr/>
        </p:nvSpPr>
        <p:spPr>
          <a:xfrm>
            <a:off x="548640" y="2660904"/>
            <a:ext cx="2194560" cy="658368"/>
          </a:xfrm>
          <a:prstGeom prst="roundRect">
            <a:avLst>
              <a:gd name="adj" fmla="val 50000"/>
            </a:avLst>
          </a:prstGeom>
          <a:solidFill>
            <a:srgbClr val="D9962B"/>
          </a:solidFill>
          <a:ln/>
        </p:spPr>
      </p:sp>
      <p:sp>
        <p:nvSpPr>
          <p:cNvPr id="9" name="Text 7"/>
          <p:cNvSpPr txBox="1"/>
          <p:nvPr/>
        </p:nvSpPr>
        <p:spPr>
          <a:xfrm>
            <a:off x="548640" y="2660904"/>
            <a:ext cx="2194560" cy="658368"/>
          </a:xfrm>
          <a:prstGeom prst="rect">
            <a:avLst/>
          </a:prstGeom>
          <a:noFill/>
          <a:ln/>
        </p:spPr>
        <p:txBody>
          <a:bodyPr wrap="square" lIns="0" tIns="0" rIns="0" bIns="0" rtlCol="0" anchor="ctr"/>
          <a:lstStyle/>
          <a:p>
            <a:pPr algn="ctr" indent="0" marL="0">
              <a:buNone/>
            </a:pPr>
            <a:r>
              <a:rPr lang="en-US" sz="1600" b="1" dirty="0">
                <a:solidFill>
                  <a:srgbClr val="FFFFFF"/>
                </a:solidFill>
              </a:rPr>
              <a:t>Not matched</a:t>
            </a:r>
            <a:endParaRPr lang="en-US" sz="1600" dirty="0"/>
          </a:p>
        </p:txBody>
      </p:sp>
      <p:sp>
        <p:nvSpPr>
          <p:cNvPr id="10" name="verdict row 2"/>
          <p:cNvSpPr/>
          <p:nvPr/>
        </p:nvSpPr>
        <p:spPr>
          <a:xfrm>
            <a:off x="2971800" y="2660904"/>
            <a:ext cx="8641080" cy="658368"/>
          </a:xfrm>
          <a:prstGeom prst="roundRect">
            <a:avLst>
              <a:gd name="adj" fmla="val 11111"/>
            </a:avLst>
          </a:prstGeom>
          <a:solidFill>
            <a:schemeClr val="bg2"/>
          </a:solidFill>
          <a:ln/>
        </p:spPr>
      </p:sp>
      <p:sp>
        <p:nvSpPr>
          <p:cNvPr id="11" name="Text 9"/>
          <p:cNvSpPr txBox="1"/>
          <p:nvPr/>
        </p:nvSpPr>
        <p:spPr>
          <a:xfrm>
            <a:off x="3200400" y="2660904"/>
            <a:ext cx="8229600" cy="658368"/>
          </a:xfrm>
          <a:prstGeom prst="rect">
            <a:avLst/>
          </a:prstGeom>
          <a:noFill/>
          <a:ln/>
        </p:spPr>
        <p:txBody>
          <a:bodyPr wrap="square" lIns="0" tIns="0" rIns="0" bIns="0" rtlCol="0" anchor="ctr"/>
          <a:lstStyle/>
          <a:p>
            <a:pPr indent="0" marL="0">
              <a:buNone/>
            </a:pPr>
            <a:r>
              <a:rPr lang="en-US" sz="1400" dirty="0">
                <a:solidFill>
                  <a:schemeClr val="tx1"/>
                </a:solidFill>
              </a:rPr>
              <a:t>Table 3 numbers · attack ranking on refusal and sentiment · untriggered jailbreak rate</a:t>
            </a:r>
            <a:endParaRPr lang="en-US" sz="1400" dirty="0"/>
          </a:p>
        </p:txBody>
      </p:sp>
      <p:sp>
        <p:nvSpPr>
          <p:cNvPr id="12" name="verdict pill 3"/>
          <p:cNvSpPr/>
          <p:nvPr/>
        </p:nvSpPr>
        <p:spPr>
          <a:xfrm>
            <a:off x="548640" y="3538728"/>
            <a:ext cx="2194560" cy="658368"/>
          </a:xfrm>
          <a:prstGeom prst="roundRect">
            <a:avLst>
              <a:gd name="adj" fmla="val 50000"/>
            </a:avLst>
          </a:prstGeom>
          <a:solidFill>
            <a:srgbClr val="C8553D"/>
          </a:solidFill>
          <a:ln/>
        </p:spPr>
      </p:sp>
      <p:sp>
        <p:nvSpPr>
          <p:cNvPr id="13" name="Text 11"/>
          <p:cNvSpPr txBox="1"/>
          <p:nvPr/>
        </p:nvSpPr>
        <p:spPr>
          <a:xfrm>
            <a:off x="548640" y="3538728"/>
            <a:ext cx="2194560" cy="658368"/>
          </a:xfrm>
          <a:prstGeom prst="rect">
            <a:avLst/>
          </a:prstGeom>
          <a:noFill/>
          <a:ln/>
        </p:spPr>
        <p:txBody>
          <a:bodyPr wrap="square" lIns="0" tIns="0" rIns="0" bIns="0" rtlCol="0" anchor="ctr"/>
          <a:lstStyle/>
          <a:p>
            <a:pPr algn="ctr" indent="0" marL="0">
              <a:buNone/>
            </a:pPr>
            <a:r>
              <a:rPr lang="en-US" sz="1600" b="1" dirty="0">
                <a:solidFill>
                  <a:srgbClr val="FFFFFF"/>
                </a:solidFill>
              </a:rPr>
              <a:t>Failed</a:t>
            </a:r>
            <a:endParaRPr lang="en-US" sz="1600" dirty="0"/>
          </a:p>
        </p:txBody>
      </p:sp>
      <p:sp>
        <p:nvSpPr>
          <p:cNvPr id="14" name="verdict row 3"/>
          <p:cNvSpPr/>
          <p:nvPr/>
        </p:nvSpPr>
        <p:spPr>
          <a:xfrm>
            <a:off x="2971800" y="3538728"/>
            <a:ext cx="8641080" cy="658368"/>
          </a:xfrm>
          <a:prstGeom prst="roundRect">
            <a:avLst>
              <a:gd name="adj" fmla="val 11111"/>
            </a:avLst>
          </a:prstGeom>
          <a:solidFill>
            <a:schemeClr val="bg2"/>
          </a:solidFill>
          <a:ln/>
        </p:spPr>
      </p:sp>
      <p:sp>
        <p:nvSpPr>
          <p:cNvPr id="15" name="Text 13"/>
          <p:cNvSpPr txBox="1"/>
          <p:nvPr/>
        </p:nvSpPr>
        <p:spPr>
          <a:xfrm>
            <a:off x="3200400" y="3538728"/>
            <a:ext cx="8229600" cy="658368"/>
          </a:xfrm>
          <a:prstGeom prst="rect">
            <a:avLst/>
          </a:prstGeom>
          <a:noFill/>
          <a:ln/>
        </p:spPr>
        <p:txBody>
          <a:bodyPr wrap="square" lIns="0" tIns="0" rIns="0" bIns="0" rtlCol="0" anchor="ctr"/>
          <a:lstStyle/>
          <a:p>
            <a:pPr indent="0" marL="0">
              <a:buNone/>
            </a:pPr>
            <a:r>
              <a:rPr lang="en-US" sz="1400" dirty="0">
                <a:solidFill>
                  <a:schemeClr val="tx1"/>
                </a:solidFill>
              </a:rPr>
              <a:t>MTBA negative sentiment fires with and without the trigger</a:t>
            </a:r>
            <a:endParaRPr lang="en-US" sz="1400" dirty="0"/>
          </a:p>
        </p:txBody>
      </p:sp>
      <p:sp>
        <p:nvSpPr>
          <p:cNvPr id="16" name="verdict pill 4"/>
          <p:cNvSpPr/>
          <p:nvPr/>
        </p:nvSpPr>
        <p:spPr>
          <a:xfrm>
            <a:off x="548640" y="4416552"/>
            <a:ext cx="2194560" cy="658368"/>
          </a:xfrm>
          <a:prstGeom prst="roundRect">
            <a:avLst>
              <a:gd name="adj" fmla="val 50000"/>
            </a:avLst>
          </a:prstGeom>
          <a:solidFill>
            <a:srgbClr val="3D5A80"/>
          </a:solidFill>
          <a:ln/>
        </p:spPr>
      </p:sp>
      <p:sp>
        <p:nvSpPr>
          <p:cNvPr id="17" name="Text 15"/>
          <p:cNvSpPr txBox="1"/>
          <p:nvPr/>
        </p:nvSpPr>
        <p:spPr>
          <a:xfrm>
            <a:off x="548640" y="4416552"/>
            <a:ext cx="2194560" cy="658368"/>
          </a:xfrm>
          <a:prstGeom prst="rect">
            <a:avLst/>
          </a:prstGeom>
          <a:noFill/>
          <a:ln/>
        </p:spPr>
        <p:txBody>
          <a:bodyPr wrap="square" lIns="0" tIns="0" rIns="0" bIns="0" rtlCol="0" anchor="ctr"/>
          <a:lstStyle/>
          <a:p>
            <a:pPr algn="ctr" indent="0" marL="0">
              <a:buNone/>
            </a:pPr>
            <a:r>
              <a:rPr lang="en-US" sz="1600" b="1" dirty="0">
                <a:solidFill>
                  <a:srgbClr val="FFFFFF"/>
                </a:solidFill>
              </a:rPr>
              <a:t>Partial</a:t>
            </a:r>
            <a:endParaRPr lang="en-US" sz="1600" dirty="0"/>
          </a:p>
        </p:txBody>
      </p:sp>
      <p:sp>
        <p:nvSpPr>
          <p:cNvPr id="18" name="verdict row 4"/>
          <p:cNvSpPr/>
          <p:nvPr/>
        </p:nvSpPr>
        <p:spPr>
          <a:xfrm>
            <a:off x="2971800" y="4416552"/>
            <a:ext cx="8641080" cy="658368"/>
          </a:xfrm>
          <a:prstGeom prst="roundRect">
            <a:avLst>
              <a:gd name="adj" fmla="val 11111"/>
            </a:avLst>
          </a:prstGeom>
          <a:solidFill>
            <a:schemeClr val="bg2"/>
          </a:solidFill>
          <a:ln/>
        </p:spPr>
      </p:sp>
      <p:sp>
        <p:nvSpPr>
          <p:cNvPr id="19" name="Text 17"/>
          <p:cNvSpPr txBox="1"/>
          <p:nvPr/>
        </p:nvSpPr>
        <p:spPr>
          <a:xfrm>
            <a:off x="3200400" y="4416552"/>
            <a:ext cx="8229600" cy="658368"/>
          </a:xfrm>
          <a:prstGeom prst="rect">
            <a:avLst/>
          </a:prstGeom>
          <a:noFill/>
          <a:ln/>
        </p:spPr>
        <p:txBody>
          <a:bodyPr wrap="square" lIns="0" tIns="0" rIns="0" bIns="0" rtlCol="0" anchor="ctr"/>
          <a:lstStyle/>
          <a:p>
            <a:pPr indent="0" marL="0">
              <a:buNone/>
            </a:pPr>
            <a:r>
              <a:rPr lang="en-US" sz="1400" dirty="0">
                <a:solidFill>
                  <a:schemeClr val="tx1"/>
                </a:solidFill>
              </a:rPr>
              <a:t>CleanGen halves ASR · CROW no effect · pruning failed · fine-tuning not run</a:t>
            </a:r>
            <a:endParaRPr lang="en-US" sz="1400" dirty="0"/>
          </a:p>
        </p:txBody>
      </p:sp>
      <p:sp>
        <p:nvSpPr>
          <p:cNvPr id="20" name="verdict pill 5"/>
          <p:cNvSpPr/>
          <p:nvPr/>
        </p:nvSpPr>
        <p:spPr>
          <a:xfrm>
            <a:off x="548640" y="5294376"/>
            <a:ext cx="2194560" cy="658368"/>
          </a:xfrm>
          <a:prstGeom prst="roundRect">
            <a:avLst>
              <a:gd name="adj" fmla="val 50000"/>
            </a:avLst>
          </a:prstGeom>
          <a:solidFill>
            <a:srgbClr val="8C99A6"/>
          </a:solidFill>
          <a:ln/>
        </p:spPr>
      </p:sp>
      <p:sp>
        <p:nvSpPr>
          <p:cNvPr id="21" name="Text 19"/>
          <p:cNvSpPr txBox="1"/>
          <p:nvPr/>
        </p:nvSpPr>
        <p:spPr>
          <a:xfrm>
            <a:off x="548640" y="5294376"/>
            <a:ext cx="2194560" cy="658368"/>
          </a:xfrm>
          <a:prstGeom prst="rect">
            <a:avLst/>
          </a:prstGeom>
          <a:noFill/>
          <a:ln/>
        </p:spPr>
        <p:txBody>
          <a:bodyPr wrap="square" lIns="0" tIns="0" rIns="0" bIns="0" rtlCol="0" anchor="ctr"/>
          <a:lstStyle/>
          <a:p>
            <a:pPr algn="ctr" indent="0" marL="0">
              <a:buNone/>
            </a:pPr>
            <a:r>
              <a:rPr lang="en-US" sz="1600" b="1" dirty="0">
                <a:solidFill>
                  <a:srgbClr val="FFFFFF"/>
                </a:solidFill>
              </a:rPr>
              <a:t>Not tested</a:t>
            </a:r>
            <a:endParaRPr lang="en-US" sz="1600" dirty="0"/>
          </a:p>
        </p:txBody>
      </p:sp>
      <p:sp>
        <p:nvSpPr>
          <p:cNvPr id="22" name="verdict row 5"/>
          <p:cNvSpPr/>
          <p:nvPr/>
        </p:nvSpPr>
        <p:spPr>
          <a:xfrm>
            <a:off x="2971800" y="5294376"/>
            <a:ext cx="8641080" cy="658368"/>
          </a:xfrm>
          <a:prstGeom prst="roundRect">
            <a:avLst>
              <a:gd name="adj" fmla="val 11111"/>
            </a:avLst>
          </a:prstGeom>
          <a:solidFill>
            <a:schemeClr val="bg2"/>
          </a:solidFill>
          <a:ln/>
        </p:spPr>
      </p:sp>
      <p:sp>
        <p:nvSpPr>
          <p:cNvPr id="23" name="Text 21"/>
          <p:cNvSpPr txBox="1"/>
          <p:nvPr/>
        </p:nvSpPr>
        <p:spPr>
          <a:xfrm>
            <a:off x="3200400" y="5294376"/>
            <a:ext cx="8229600" cy="658368"/>
          </a:xfrm>
          <a:prstGeom prst="rect">
            <a:avLst/>
          </a:prstGeom>
          <a:noFill/>
          <a:ln/>
        </p:spPr>
        <p:txBody>
          <a:bodyPr wrap="square" lIns="0" tIns="0" rIns="0" bIns="0" rtlCol="0" anchor="ctr"/>
          <a:lstStyle/>
          <a:p>
            <a:pPr indent="0" marL="0">
              <a:buNone/>
            </a:pPr>
            <a:r>
              <a:rPr lang="en-US" sz="1400" dirty="0">
                <a:solidFill>
                  <a:schemeClr val="tx1"/>
                </a:solidFill>
              </a:rPr>
              <a:t>WPA, HSA, CoTA attacks · other models and sizes · defenses on refusal · utility after poisoning · repeated seeds</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Gaps in the benchmark</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Concrete evidence for the issues raised at the last meeting</a:t>
            </a:r>
            <a:endParaRPr lang="en-US" sz="1800" dirty="0"/>
          </a:p>
        </p:txBody>
      </p:sp>
      <p:sp>
        <p:nvSpPr>
          <p:cNvPr id="4" name="gap card 1"/>
          <p:cNvSpPr/>
          <p:nvPr/>
        </p:nvSpPr>
        <p:spPr>
          <a:xfrm>
            <a:off x="548640" y="1783080"/>
            <a:ext cx="3520440" cy="2057400"/>
          </a:xfrm>
          <a:prstGeom prst="roundRect">
            <a:avLst>
              <a:gd name="adj" fmla="val 3556"/>
            </a:avLst>
          </a:prstGeom>
          <a:solidFill>
            <a:schemeClr val="bg2"/>
          </a:solidFill>
          <a:ln/>
        </p:spPr>
      </p:sp>
      <p:sp>
        <p:nvSpPr>
          <p:cNvPr id="5" name="gap 1 circle"/>
          <p:cNvSpPr/>
          <p:nvPr/>
        </p:nvSpPr>
        <p:spPr>
          <a:xfrm>
            <a:off x="777240" y="2011680"/>
            <a:ext cx="457200" cy="457200"/>
          </a:xfrm>
          <a:prstGeom prst="ellipse">
            <a:avLst/>
          </a:prstGeom>
          <a:solidFill>
            <a:srgbClr val="1F7A80"/>
          </a:solidFill>
          <a:ln/>
        </p:spPr>
      </p:sp>
      <p:pic>
        <p:nvPicPr>
          <p:cNvPr id="6" name="gap 1 icon" descr="preencoded.png">    </p:cNvPr>
          <p:cNvPicPr>
            <a:picLocks noChangeAspect="1"/>
          </p:cNvPicPr>
          <p:nvPr/>
        </p:nvPicPr>
        <p:blipFill>
          <a:blip r:embed="rId1"/>
          <a:stretch>
            <a:fillRect/>
          </a:stretch>
        </p:blipFill>
        <p:spPr>
          <a:xfrm>
            <a:off x="891540" y="2125980"/>
            <a:ext cx="228600" cy="228600"/>
          </a:xfrm>
          <a:prstGeom prst="rect">
            <a:avLst/>
          </a:prstGeom>
        </p:spPr>
      </p:pic>
      <p:sp>
        <p:nvSpPr>
          <p:cNvPr id="7" name="Text 4"/>
          <p:cNvSpPr txBox="1"/>
          <p:nvPr/>
        </p:nvSpPr>
        <p:spPr>
          <a:xfrm>
            <a:off x="1371600" y="20116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Workflow</a:t>
            </a:r>
            <a:endParaRPr lang="en-US" sz="1800" dirty="0"/>
          </a:p>
        </p:txBody>
      </p:sp>
      <p:sp>
        <p:nvSpPr>
          <p:cNvPr id="8" name="Text 5"/>
          <p:cNvSpPr txBox="1"/>
          <p:nvPr/>
        </p:nvSpPr>
        <p:spPr>
          <a:xfrm>
            <a:off x="777240" y="2606040"/>
            <a:ext cx="3108960" cy="1188720"/>
          </a:xfrm>
          <a:prstGeom prst="rect">
            <a:avLst/>
          </a:prstGeom>
          <a:noFill/>
          <a:ln/>
        </p:spPr>
        <p:txBody>
          <a:bodyPr wrap="square" lIns="0" tIns="0" rIns="0" bIns="0" rtlCol="0" anchor="t"/>
          <a:lstStyle/>
          <a:p>
            <a:pPr indent="0" marL="0">
              <a:buNone/>
            </a:pPr>
            <a:r>
              <a:rPr lang="en-US" sz="1400" dirty="0">
                <a:solidFill>
                  <a:schemeClr val="tx1"/>
                </a:solidFill>
              </a:rPr>
              <a:t>No checkpoint-in, report-out path. Attack evaluation and DefenseBox are separate, with different model paths and prompt formats.</a:t>
            </a:r>
            <a:endParaRPr lang="en-US" sz="1400" dirty="0"/>
          </a:p>
        </p:txBody>
      </p:sp>
      <p:sp>
        <p:nvSpPr>
          <p:cNvPr id="9" name="gap card 2"/>
          <p:cNvSpPr/>
          <p:nvPr/>
        </p:nvSpPr>
        <p:spPr>
          <a:xfrm>
            <a:off x="4334256" y="1783080"/>
            <a:ext cx="3520440" cy="2057400"/>
          </a:xfrm>
          <a:prstGeom prst="roundRect">
            <a:avLst>
              <a:gd name="adj" fmla="val 3556"/>
            </a:avLst>
          </a:prstGeom>
          <a:solidFill>
            <a:schemeClr val="bg2"/>
          </a:solidFill>
          <a:ln/>
        </p:spPr>
      </p:sp>
      <p:sp>
        <p:nvSpPr>
          <p:cNvPr id="10" name="gap 2 circle"/>
          <p:cNvSpPr/>
          <p:nvPr/>
        </p:nvSpPr>
        <p:spPr>
          <a:xfrm>
            <a:off x="4562856" y="2011680"/>
            <a:ext cx="457200" cy="457200"/>
          </a:xfrm>
          <a:prstGeom prst="ellipse">
            <a:avLst/>
          </a:prstGeom>
          <a:solidFill>
            <a:srgbClr val="1F7A80"/>
          </a:solidFill>
          <a:ln/>
        </p:spPr>
      </p:sp>
      <p:pic>
        <p:nvPicPr>
          <p:cNvPr id="11" name="gap 2 icon" descr="preencoded.png">    </p:cNvPr>
          <p:cNvPicPr>
            <a:picLocks noChangeAspect="1"/>
          </p:cNvPicPr>
          <p:nvPr/>
        </p:nvPicPr>
        <p:blipFill>
          <a:blip r:embed="rId2"/>
          <a:stretch>
            <a:fillRect/>
          </a:stretch>
        </p:blipFill>
        <p:spPr>
          <a:xfrm>
            <a:off x="4677156" y="2125980"/>
            <a:ext cx="228600" cy="228600"/>
          </a:xfrm>
          <a:prstGeom prst="rect">
            <a:avLst/>
          </a:prstGeom>
        </p:spPr>
      </p:pic>
      <p:sp>
        <p:nvSpPr>
          <p:cNvPr id="12" name="Text 8"/>
          <p:cNvSpPr txBox="1"/>
          <p:nvPr/>
        </p:nvSpPr>
        <p:spPr>
          <a:xfrm>
            <a:off x="5157216" y="20116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Metrics</a:t>
            </a:r>
            <a:endParaRPr lang="en-US" sz="1800" dirty="0"/>
          </a:p>
        </p:txBody>
      </p:sp>
      <p:sp>
        <p:nvSpPr>
          <p:cNvPr id="13" name="Text 9"/>
          <p:cNvSpPr txBox="1"/>
          <p:nvPr/>
        </p:nvSpPr>
        <p:spPr>
          <a:xfrm>
            <a:off x="4562856" y="2606040"/>
            <a:ext cx="3108960" cy="1188720"/>
          </a:xfrm>
          <a:prstGeom prst="rect">
            <a:avLst/>
          </a:prstGeom>
          <a:noFill/>
          <a:ln/>
        </p:spPr>
        <p:txBody>
          <a:bodyPr wrap="square" lIns="0" tIns="0" rIns="0" bIns="0" rtlCol="0" anchor="t"/>
          <a:lstStyle/>
          <a:p>
            <a:pPr indent="0" marL="0">
              <a:buNone/>
            </a:pPr>
            <a:r>
              <a:rPr lang="en-US" sz="1400" dirty="0">
                <a:solidFill>
                  <a:schemeClr val="tx1"/>
                </a:solidFill>
              </a:rPr>
              <a:t>Keyword ASR, a different success rule per task, a "clean ASR" that isn't an error rate, answers cut at 128 tokens.</a:t>
            </a:r>
            <a:endParaRPr lang="en-US" sz="1400" dirty="0"/>
          </a:p>
        </p:txBody>
      </p:sp>
      <p:sp>
        <p:nvSpPr>
          <p:cNvPr id="14" name="gap card 3"/>
          <p:cNvSpPr/>
          <p:nvPr/>
        </p:nvSpPr>
        <p:spPr>
          <a:xfrm>
            <a:off x="8119872" y="1783080"/>
            <a:ext cx="3520440" cy="2057400"/>
          </a:xfrm>
          <a:prstGeom prst="roundRect">
            <a:avLst>
              <a:gd name="adj" fmla="val 3556"/>
            </a:avLst>
          </a:prstGeom>
          <a:solidFill>
            <a:schemeClr val="bg2"/>
          </a:solidFill>
          <a:ln/>
        </p:spPr>
      </p:sp>
      <p:sp>
        <p:nvSpPr>
          <p:cNvPr id="15" name="gap 3 circle"/>
          <p:cNvSpPr/>
          <p:nvPr/>
        </p:nvSpPr>
        <p:spPr>
          <a:xfrm>
            <a:off x="8348472" y="2011680"/>
            <a:ext cx="457200" cy="457200"/>
          </a:xfrm>
          <a:prstGeom prst="ellipse">
            <a:avLst/>
          </a:prstGeom>
          <a:solidFill>
            <a:srgbClr val="1F7A80"/>
          </a:solidFill>
          <a:ln/>
        </p:spPr>
      </p:sp>
      <p:pic>
        <p:nvPicPr>
          <p:cNvPr id="16" name="gap 3 icon" descr="preencoded.png">    </p:cNvPr>
          <p:cNvPicPr>
            <a:picLocks noChangeAspect="1"/>
          </p:cNvPicPr>
          <p:nvPr/>
        </p:nvPicPr>
        <p:blipFill>
          <a:blip r:embed="rId3"/>
          <a:stretch>
            <a:fillRect/>
          </a:stretch>
        </p:blipFill>
        <p:spPr>
          <a:xfrm>
            <a:off x="8462772" y="2125980"/>
            <a:ext cx="228600" cy="228600"/>
          </a:xfrm>
          <a:prstGeom prst="rect">
            <a:avLst/>
          </a:prstGeom>
        </p:spPr>
      </p:pic>
      <p:sp>
        <p:nvSpPr>
          <p:cNvPr id="17" name="Text 12"/>
          <p:cNvSpPr txBox="1"/>
          <p:nvPr/>
        </p:nvSpPr>
        <p:spPr>
          <a:xfrm>
            <a:off x="8942832" y="201168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Attack definitions</a:t>
            </a:r>
            <a:endParaRPr lang="en-US" sz="1800" dirty="0"/>
          </a:p>
        </p:txBody>
      </p:sp>
      <p:sp>
        <p:nvSpPr>
          <p:cNvPr id="18" name="Text 13"/>
          <p:cNvSpPr txBox="1"/>
          <p:nvPr/>
        </p:nvSpPr>
        <p:spPr>
          <a:xfrm>
            <a:off x="8348472" y="2606040"/>
            <a:ext cx="3108960" cy="1188720"/>
          </a:xfrm>
          <a:prstGeom prst="rect">
            <a:avLst/>
          </a:prstGeom>
          <a:noFill/>
          <a:ln/>
        </p:spPr>
        <p:txBody>
          <a:bodyPr wrap="square" lIns="0" tIns="0" rIns="0" bIns="0" rtlCol="0" anchor="t"/>
          <a:lstStyle/>
          <a:p>
            <a:pPr indent="0" marL="0">
              <a:buNone/>
            </a:pPr>
            <a:r>
              <a:rPr lang="en-US" sz="1400" dirty="0">
                <a:solidFill>
                  <a:schemeClr val="tx1"/>
                </a:solidFill>
              </a:rPr>
              <a:t>Fixed target strings reward memorisation; triggered and clean tests reuse the same instructions; MTBA can lose selectivity.</a:t>
            </a:r>
            <a:endParaRPr lang="en-US" sz="1400" dirty="0"/>
          </a:p>
        </p:txBody>
      </p:sp>
      <p:sp>
        <p:nvSpPr>
          <p:cNvPr id="19" name="gap card 4"/>
          <p:cNvSpPr/>
          <p:nvPr/>
        </p:nvSpPr>
        <p:spPr>
          <a:xfrm>
            <a:off x="548640" y="4114800"/>
            <a:ext cx="3520440" cy="2057400"/>
          </a:xfrm>
          <a:prstGeom prst="roundRect">
            <a:avLst>
              <a:gd name="adj" fmla="val 3556"/>
            </a:avLst>
          </a:prstGeom>
          <a:solidFill>
            <a:schemeClr val="bg2"/>
          </a:solidFill>
          <a:ln/>
        </p:spPr>
      </p:sp>
      <p:sp>
        <p:nvSpPr>
          <p:cNvPr id="20" name="gap 4 circle"/>
          <p:cNvSpPr/>
          <p:nvPr/>
        </p:nvSpPr>
        <p:spPr>
          <a:xfrm>
            <a:off x="777240" y="4343400"/>
            <a:ext cx="457200" cy="457200"/>
          </a:xfrm>
          <a:prstGeom prst="ellipse">
            <a:avLst/>
          </a:prstGeom>
          <a:solidFill>
            <a:srgbClr val="1F7A80"/>
          </a:solidFill>
          <a:ln/>
        </p:spPr>
      </p:sp>
      <p:pic>
        <p:nvPicPr>
          <p:cNvPr id="21" name="gap 4 icon" descr="preencoded.png">    </p:cNvPr>
          <p:cNvPicPr>
            <a:picLocks noChangeAspect="1"/>
          </p:cNvPicPr>
          <p:nvPr/>
        </p:nvPicPr>
        <p:blipFill>
          <a:blip r:embed="rId4"/>
          <a:stretch>
            <a:fillRect/>
          </a:stretch>
        </p:blipFill>
        <p:spPr>
          <a:xfrm>
            <a:off x="891540" y="4457700"/>
            <a:ext cx="228600" cy="228600"/>
          </a:xfrm>
          <a:prstGeom prst="rect">
            <a:avLst/>
          </a:prstGeom>
        </p:spPr>
      </p:pic>
      <p:sp>
        <p:nvSpPr>
          <p:cNvPr id="22" name="Text 16"/>
          <p:cNvSpPr txBox="1"/>
          <p:nvPr/>
        </p:nvSpPr>
        <p:spPr>
          <a:xfrm>
            <a:off x="1371600" y="43434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Defense code</a:t>
            </a:r>
            <a:endParaRPr lang="en-US" sz="1800" dirty="0"/>
          </a:p>
        </p:txBody>
      </p:sp>
      <p:sp>
        <p:nvSpPr>
          <p:cNvPr id="23" name="Text 17"/>
          <p:cNvSpPr txBox="1"/>
          <p:nvPr/>
        </p:nvSpPr>
        <p:spPr>
          <a:xfrm>
            <a:off x="777240"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Decoding, quantization, CROW and fine-tuning scripts gave wrong results (fixed in 51cfe78). CROW defaults differ from the paper.</a:t>
            </a:r>
            <a:endParaRPr lang="en-US" sz="1400" dirty="0"/>
          </a:p>
        </p:txBody>
      </p:sp>
      <p:sp>
        <p:nvSpPr>
          <p:cNvPr id="24" name="gap card 5"/>
          <p:cNvSpPr/>
          <p:nvPr/>
        </p:nvSpPr>
        <p:spPr>
          <a:xfrm>
            <a:off x="4334256" y="4114800"/>
            <a:ext cx="3520440" cy="2057400"/>
          </a:xfrm>
          <a:prstGeom prst="roundRect">
            <a:avLst>
              <a:gd name="adj" fmla="val 3556"/>
            </a:avLst>
          </a:prstGeom>
          <a:solidFill>
            <a:schemeClr val="bg2"/>
          </a:solidFill>
          <a:ln/>
        </p:spPr>
      </p:sp>
      <p:sp>
        <p:nvSpPr>
          <p:cNvPr id="25" name="gap 5 circle"/>
          <p:cNvSpPr/>
          <p:nvPr/>
        </p:nvSpPr>
        <p:spPr>
          <a:xfrm>
            <a:off x="4562856" y="4343400"/>
            <a:ext cx="457200" cy="457200"/>
          </a:xfrm>
          <a:prstGeom prst="ellipse">
            <a:avLst/>
          </a:prstGeom>
          <a:solidFill>
            <a:srgbClr val="1F7A80"/>
          </a:solidFill>
          <a:ln/>
        </p:spPr>
      </p:sp>
      <p:pic>
        <p:nvPicPr>
          <p:cNvPr id="26" name="gap 5 icon" descr="preencoded.png">    </p:cNvPr>
          <p:cNvPicPr>
            <a:picLocks noChangeAspect="1"/>
          </p:cNvPicPr>
          <p:nvPr/>
        </p:nvPicPr>
        <p:blipFill>
          <a:blip r:embed="rId5"/>
          <a:stretch>
            <a:fillRect/>
          </a:stretch>
        </p:blipFill>
        <p:spPr>
          <a:xfrm>
            <a:off x="4677156" y="4457700"/>
            <a:ext cx="228600" cy="228600"/>
          </a:xfrm>
          <a:prstGeom prst="rect">
            <a:avLst/>
          </a:prstGeom>
        </p:spPr>
      </p:pic>
      <p:sp>
        <p:nvSpPr>
          <p:cNvPr id="27" name="Text 20"/>
          <p:cNvSpPr txBox="1"/>
          <p:nvPr/>
        </p:nvSpPr>
        <p:spPr>
          <a:xfrm>
            <a:off x="5157216" y="43434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Coverage</a:t>
            </a:r>
            <a:endParaRPr lang="en-US" sz="1800" dirty="0"/>
          </a:p>
        </p:txBody>
      </p:sp>
      <p:sp>
        <p:nvSpPr>
          <p:cNvPr id="28" name="Text 21"/>
          <p:cNvSpPr txBox="1"/>
          <p:nvPr/>
        </p:nvSpPr>
        <p:spPr>
          <a:xfrm>
            <a:off x="4562856"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Defenses only on jailbreak; no black-box defense besides LLM-Judge; one model family at 7B.</a:t>
            </a:r>
            <a:endParaRPr lang="en-US" sz="1400" dirty="0"/>
          </a:p>
        </p:txBody>
      </p:sp>
      <p:sp>
        <p:nvSpPr>
          <p:cNvPr id="29" name="gap card 6"/>
          <p:cNvSpPr/>
          <p:nvPr/>
        </p:nvSpPr>
        <p:spPr>
          <a:xfrm>
            <a:off x="8119872" y="4114800"/>
            <a:ext cx="3520440" cy="2057400"/>
          </a:xfrm>
          <a:prstGeom prst="roundRect">
            <a:avLst>
              <a:gd name="adj" fmla="val 3556"/>
            </a:avLst>
          </a:prstGeom>
          <a:solidFill>
            <a:schemeClr val="bg2"/>
          </a:solidFill>
          <a:ln/>
        </p:spPr>
      </p:sp>
      <p:sp>
        <p:nvSpPr>
          <p:cNvPr id="30" name="gap 6 circle"/>
          <p:cNvSpPr/>
          <p:nvPr/>
        </p:nvSpPr>
        <p:spPr>
          <a:xfrm>
            <a:off x="8348472" y="4343400"/>
            <a:ext cx="457200" cy="457200"/>
          </a:xfrm>
          <a:prstGeom prst="ellipse">
            <a:avLst/>
          </a:prstGeom>
          <a:solidFill>
            <a:srgbClr val="1F7A80"/>
          </a:solidFill>
          <a:ln/>
        </p:spPr>
      </p:sp>
      <p:pic>
        <p:nvPicPr>
          <p:cNvPr id="31" name="gap 6 icon" descr="preencoded.png">    </p:cNvPr>
          <p:cNvPicPr>
            <a:picLocks noChangeAspect="1"/>
          </p:cNvPicPr>
          <p:nvPr/>
        </p:nvPicPr>
        <p:blipFill>
          <a:blip r:embed="rId6"/>
          <a:stretch>
            <a:fillRect/>
          </a:stretch>
        </p:blipFill>
        <p:spPr>
          <a:xfrm>
            <a:off x="8462772" y="4457700"/>
            <a:ext cx="228600" cy="228600"/>
          </a:xfrm>
          <a:prstGeom prst="rect">
            <a:avLst/>
          </a:prstGeom>
        </p:spPr>
      </p:pic>
      <p:sp>
        <p:nvSpPr>
          <p:cNvPr id="32" name="Text 24"/>
          <p:cNvSpPr txBox="1"/>
          <p:nvPr/>
        </p:nvSpPr>
        <p:spPr>
          <a:xfrm>
            <a:off x="8942832" y="43434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Statistics</a:t>
            </a:r>
            <a:endParaRPr lang="en-US" sz="1800" dirty="0"/>
          </a:p>
        </p:txBody>
      </p:sp>
      <p:sp>
        <p:nvSpPr>
          <p:cNvPr id="33" name="Text 25"/>
          <p:cNvSpPr txBox="1"/>
          <p:nvPr/>
        </p:nvSpPr>
        <p:spPr>
          <a:xfrm>
            <a:off x="8348472" y="4937760"/>
            <a:ext cx="3108960" cy="1188720"/>
          </a:xfrm>
          <a:prstGeom prst="rect">
            <a:avLst/>
          </a:prstGeom>
          <a:noFill/>
          <a:ln/>
        </p:spPr>
        <p:txBody>
          <a:bodyPr wrap="square" lIns="0" tIns="0" rIns="0" bIns="0" rtlCol="0" anchor="t"/>
          <a:lstStyle/>
          <a:p>
            <a:pPr indent="0" marL="0">
              <a:buNone/>
            </a:pPr>
            <a:r>
              <a:rPr lang="en-US" sz="1400" dirty="0">
                <a:solidFill>
                  <a:schemeClr val="tx1"/>
                </a:solidFill>
              </a:rPr>
              <a:t>One training run per setting, no seeds or confidence intervals, 19 prompts per condition on the Mac.</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number circle"/>
          <p:cNvSpPr/>
          <p:nvPr/>
        </p:nvSpPr>
        <p:spPr>
          <a:xfrm>
            <a:off x="731520" y="2606040"/>
            <a:ext cx="1005840" cy="1005840"/>
          </a:xfrm>
          <a:prstGeom prst="ellipse">
            <a:avLst/>
          </a:prstGeom>
          <a:solidFill>
            <a:schemeClr val="accent1"/>
          </a:solidFill>
          <a:ln/>
        </p:spPr>
      </p:sp>
      <p:sp>
        <p:nvSpPr>
          <p:cNvPr id="3" name="section number"/>
          <p:cNvSpPr txBox="1"/>
          <p:nvPr/>
        </p:nvSpPr>
        <p:spPr>
          <a:xfrm>
            <a:off x="731520" y="2606040"/>
            <a:ext cx="1005840" cy="100584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3</a:t>
            </a:r>
            <a:endParaRPr lang="en-US" sz="3600" dirty="0"/>
          </a:p>
        </p:txBody>
      </p:sp>
      <p:sp>
        <p:nvSpPr>
          <p:cNvPr id="4" name="Text 0"/>
          <p:cNvSpPr/>
          <p:nvPr>
            <p:ph idx="100" type="title" hasCustomPrompt="1"/>
          </p:nvPr>
        </p:nvSpPr>
        <p:spPr>
          <a:xfrm>
            <a:off x="2103120" y="2514600"/>
            <a:ext cx="9326880" cy="10058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What's next</a:t>
            </a:r>
            <a:endParaRPr lang="en-US" sz="4000" dirty="0"/>
          </a:p>
        </p:txBody>
      </p:sp>
      <p:sp>
        <p:nvSpPr>
          <p:cNvPr id="5" name="Text 0"/>
          <p:cNvSpPr/>
          <p:nvPr>
            <p:ph idx="101" type="body" hasCustomPrompt="1"/>
          </p:nvPr>
        </p:nvSpPr>
        <p:spPr>
          <a:xfrm>
            <a:off x="2103120" y="3611880"/>
            <a:ext cx="9326880" cy="914400"/>
          </a:xfrm>
          <a:prstGeom prst="rect">
            <a:avLst/>
          </a:prstGeom>
          <a:noFill/>
          <a:ln/>
        </p:spPr>
        <p:txBody>
          <a:bodyPr wrap="square" lIns="0" tIns="0" rIns="0" bIns="0" rtlCol="0" anchor="t"/>
          <a:lstStyle/>
          <a:p>
            <a:pPr indent="0" marL="0">
              <a:buNone/>
            </a:pPr>
            <a:r>
              <a:rPr lang="en-US" sz="1800" dirty="0">
                <a:solidFill>
                  <a:schemeClr val="bg2"/>
                </a:solidFill>
              </a:rPr>
              <a:t>Finish the reproduction, fix the evaluation, then shape the benchmark</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Next two weeks</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Proposal, in order of priority</a:t>
            </a:r>
            <a:endParaRPr lang="en-US" sz="1800" dirty="0"/>
          </a:p>
        </p:txBody>
      </p:sp>
      <p:sp>
        <p:nvSpPr>
          <p:cNvPr id="4" name="next card 1"/>
          <p:cNvSpPr/>
          <p:nvPr/>
        </p:nvSpPr>
        <p:spPr>
          <a:xfrm>
            <a:off x="548640" y="1783080"/>
            <a:ext cx="3520440" cy="4343400"/>
          </a:xfrm>
          <a:prstGeom prst="roundRect">
            <a:avLst>
              <a:gd name="adj" fmla="val 2078"/>
            </a:avLst>
          </a:prstGeom>
          <a:solidFill>
            <a:schemeClr val="bg2"/>
          </a:solidFill>
          <a:ln/>
        </p:spPr>
      </p:sp>
      <p:sp>
        <p:nvSpPr>
          <p:cNvPr id="5" name="next 1 circle"/>
          <p:cNvSpPr/>
          <p:nvPr/>
        </p:nvSpPr>
        <p:spPr>
          <a:xfrm>
            <a:off x="777240" y="1965960"/>
            <a:ext cx="548640" cy="548640"/>
          </a:xfrm>
          <a:prstGeom prst="ellipse">
            <a:avLst/>
          </a:prstGeom>
          <a:solidFill>
            <a:srgbClr val="1F7A80"/>
          </a:solidFill>
          <a:ln/>
        </p:spPr>
      </p:sp>
      <p:pic>
        <p:nvPicPr>
          <p:cNvPr id="6" name="next 1 icon" descr="preencoded.png">    </p:cNvPr>
          <p:cNvPicPr>
            <a:picLocks noChangeAspect="1"/>
          </p:cNvPicPr>
          <p:nvPr/>
        </p:nvPicPr>
        <p:blipFill>
          <a:blip r:embed="rId1"/>
          <a:stretch>
            <a:fillRect/>
          </a:stretch>
        </p:blipFill>
        <p:spPr>
          <a:xfrm>
            <a:off x="914400" y="2103120"/>
            <a:ext cx="274320" cy="274320"/>
          </a:xfrm>
          <a:prstGeom prst="rect">
            <a:avLst/>
          </a:prstGeom>
        </p:spPr>
      </p:pic>
      <p:sp>
        <p:nvSpPr>
          <p:cNvPr id="7" name="Text 4"/>
          <p:cNvSpPr txBox="1"/>
          <p:nvPr/>
        </p:nvSpPr>
        <p:spPr>
          <a:xfrm>
            <a:off x="1463040" y="1965960"/>
            <a:ext cx="2468880" cy="548640"/>
          </a:xfrm>
          <a:prstGeom prst="rect">
            <a:avLst/>
          </a:prstGeom>
          <a:noFill/>
          <a:ln/>
        </p:spPr>
        <p:txBody>
          <a:bodyPr wrap="square" lIns="0" tIns="0" rIns="0" bIns="0" rtlCol="0" anchor="ctr"/>
          <a:lstStyle/>
          <a:p>
            <a:pPr indent="0" marL="0">
              <a:buNone/>
            </a:pPr>
            <a:r>
              <a:rPr lang="en-US" sz="1800" b="1" dirty="0">
                <a:solidFill>
                  <a:schemeClr val="tx2"/>
                </a:solidFill>
              </a:rPr>
              <a:t>Finish the reproduction</a:t>
            </a:r>
            <a:endParaRPr lang="en-US" sz="1800" dirty="0"/>
          </a:p>
        </p:txBody>
      </p:sp>
      <p:sp>
        <p:nvSpPr>
          <p:cNvPr id="8" name="Text 5"/>
          <p:cNvSpPr txBox="1"/>
          <p:nvPr/>
        </p:nvSpPr>
        <p:spPr>
          <a:xfrm>
            <a:off x="777240" y="2743200"/>
            <a:ext cx="3108960" cy="32461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Find why both pruning runs failed; run fine-tuning</a:t>
            </a:r>
            <a:endParaRPr lang="en-US" sz="1400" dirty="0"/>
          </a:p>
          <a:p>
            <a:pPr marL="177800" indent="-177800">
              <a:spcAft>
                <a:spcPts val="600"/>
              </a:spcAft>
              <a:buSzPct val="100000"/>
              <a:buChar char="•"/>
            </a:pPr>
            <a:r>
              <a:rPr lang="en-US" sz="1600" dirty="0">
                <a:solidFill>
                  <a:schemeClr val="tx1"/>
                </a:solidFill>
              </a:rPr>
              <a:t>Audit quantization and decoding outputs</a:t>
            </a:r>
            <a:endParaRPr lang="en-US" sz="1400" dirty="0"/>
          </a:p>
          <a:p>
            <a:pPr marL="177800" indent="-177800">
              <a:spcAft>
                <a:spcPts val="600"/>
              </a:spcAft>
              <a:buSzPct val="100000"/>
              <a:buChar char="•"/>
            </a:pPr>
            <a:r>
              <a:rPr lang="en-US" sz="1600" dirty="0">
                <a:solidFill>
                  <a:schemeClr val="tx1"/>
                </a:solidFill>
              </a:rPr>
              <a:t>Train the 5 jailbreak adapters on Llama-2 myself</a:t>
            </a:r>
            <a:endParaRPr lang="en-US" sz="1400" dirty="0"/>
          </a:p>
          <a:p>
            <a:pPr marL="177800" indent="-177800">
              <a:spcAft>
                <a:spcPts val="600"/>
              </a:spcAft>
              <a:buSzPct val="100000"/>
              <a:buChar char="•"/>
            </a:pPr>
            <a:r>
              <a:rPr lang="en-US" sz="1600" dirty="0">
                <a:solidFill>
                  <a:schemeClr val="tx1"/>
                </a:solidFill>
              </a:rPr>
              <a:t>Explain the sentiment and untriggered-jailbreak gaps</a:t>
            </a:r>
            <a:endParaRPr lang="en-US" sz="1400" dirty="0"/>
          </a:p>
        </p:txBody>
      </p:sp>
      <p:sp>
        <p:nvSpPr>
          <p:cNvPr id="9" name="next card 2"/>
          <p:cNvSpPr/>
          <p:nvPr/>
        </p:nvSpPr>
        <p:spPr>
          <a:xfrm>
            <a:off x="4334256" y="1783080"/>
            <a:ext cx="3520440" cy="4343400"/>
          </a:xfrm>
          <a:prstGeom prst="roundRect">
            <a:avLst>
              <a:gd name="adj" fmla="val 2078"/>
            </a:avLst>
          </a:prstGeom>
          <a:solidFill>
            <a:schemeClr val="bg2"/>
          </a:solidFill>
          <a:ln/>
        </p:spPr>
      </p:sp>
      <p:sp>
        <p:nvSpPr>
          <p:cNvPr id="10" name="next 2 circle"/>
          <p:cNvSpPr/>
          <p:nvPr/>
        </p:nvSpPr>
        <p:spPr>
          <a:xfrm>
            <a:off x="4562856" y="1965960"/>
            <a:ext cx="548640" cy="548640"/>
          </a:xfrm>
          <a:prstGeom prst="ellipse">
            <a:avLst/>
          </a:prstGeom>
          <a:solidFill>
            <a:srgbClr val="1F7A80"/>
          </a:solidFill>
          <a:ln/>
        </p:spPr>
      </p:sp>
      <p:pic>
        <p:nvPicPr>
          <p:cNvPr id="11" name="next 2 icon" descr="preencoded.png">    </p:cNvPr>
          <p:cNvPicPr>
            <a:picLocks noChangeAspect="1"/>
          </p:cNvPicPr>
          <p:nvPr/>
        </p:nvPicPr>
        <p:blipFill>
          <a:blip r:embed="rId2"/>
          <a:stretch>
            <a:fillRect/>
          </a:stretch>
        </p:blipFill>
        <p:spPr>
          <a:xfrm>
            <a:off x="4700016" y="2103120"/>
            <a:ext cx="274320" cy="274320"/>
          </a:xfrm>
          <a:prstGeom prst="rect">
            <a:avLst/>
          </a:prstGeom>
        </p:spPr>
      </p:pic>
      <p:sp>
        <p:nvSpPr>
          <p:cNvPr id="12" name="Text 8"/>
          <p:cNvSpPr txBox="1"/>
          <p:nvPr/>
        </p:nvSpPr>
        <p:spPr>
          <a:xfrm>
            <a:off x="5248656" y="1965960"/>
            <a:ext cx="2468880" cy="548640"/>
          </a:xfrm>
          <a:prstGeom prst="rect">
            <a:avLst/>
          </a:prstGeom>
          <a:noFill/>
          <a:ln/>
        </p:spPr>
        <p:txBody>
          <a:bodyPr wrap="square" lIns="0" tIns="0" rIns="0" bIns="0" rtlCol="0" anchor="ctr"/>
          <a:lstStyle/>
          <a:p>
            <a:pPr indent="0" marL="0">
              <a:buNone/>
            </a:pPr>
            <a:r>
              <a:rPr lang="en-US" sz="1800" b="1" dirty="0">
                <a:solidFill>
                  <a:schemeClr val="tx2"/>
                </a:solidFill>
              </a:rPr>
              <a:t>Fix the evaluation</a:t>
            </a:r>
            <a:endParaRPr lang="en-US" sz="1800" dirty="0"/>
          </a:p>
        </p:txBody>
      </p:sp>
      <p:sp>
        <p:nvSpPr>
          <p:cNvPr id="13" name="Text 9"/>
          <p:cNvSpPr txBox="1"/>
          <p:nvPr/>
        </p:nvSpPr>
        <p:spPr>
          <a:xfrm>
            <a:off x="4562856" y="2743200"/>
            <a:ext cx="3108960" cy="32461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Report ASR with and without trigger, plus the difference</a:t>
            </a:r>
            <a:endParaRPr lang="en-US" sz="1400" dirty="0"/>
          </a:p>
          <a:p>
            <a:pPr marL="177800" indent="-177800">
              <a:spcAft>
                <a:spcPts val="600"/>
              </a:spcAft>
              <a:buSzPct val="100000"/>
              <a:buChar char="•"/>
            </a:pPr>
            <a:r>
              <a:rPr lang="en-US" sz="1600" dirty="0">
                <a:solidFill>
                  <a:schemeClr val="tx1"/>
                </a:solidFill>
              </a:rPr>
              <a:t>Judge-based ASR, checked on a hand-labelled sample</a:t>
            </a:r>
            <a:endParaRPr lang="en-US" sz="1400" dirty="0"/>
          </a:p>
          <a:p>
            <a:pPr marL="177800" indent="-177800">
              <a:spcAft>
                <a:spcPts val="600"/>
              </a:spcAft>
              <a:buSzPct val="100000"/>
              <a:buChar char="•"/>
            </a:pPr>
            <a:r>
              <a:rPr lang="en-US" sz="1600" dirty="0">
                <a:solidFill>
                  <a:schemeClr val="tx1"/>
                </a:solidFill>
              </a:rPr>
              <a:t>Baselines: clean base model and pre-defense</a:t>
            </a:r>
            <a:endParaRPr lang="en-US" sz="1400" dirty="0"/>
          </a:p>
          <a:p>
            <a:pPr marL="177800" indent="-177800">
              <a:spcAft>
                <a:spcPts val="600"/>
              </a:spcAft>
              <a:buSzPct val="100000"/>
              <a:buChar char="•"/>
            </a:pPr>
            <a:r>
              <a:rPr lang="en-US" sz="1600" dirty="0">
                <a:solidFill>
                  <a:schemeClr val="tx1"/>
                </a:solidFill>
              </a:rPr>
              <a:t>3 seeds and confidence intervals; a utility check</a:t>
            </a:r>
            <a:endParaRPr lang="en-US" sz="1400" dirty="0"/>
          </a:p>
        </p:txBody>
      </p:sp>
      <p:sp>
        <p:nvSpPr>
          <p:cNvPr id="14" name="next card 3"/>
          <p:cNvSpPr/>
          <p:nvPr/>
        </p:nvSpPr>
        <p:spPr>
          <a:xfrm>
            <a:off x="8119872" y="1783080"/>
            <a:ext cx="3520440" cy="4343400"/>
          </a:xfrm>
          <a:prstGeom prst="roundRect">
            <a:avLst>
              <a:gd name="adj" fmla="val 2078"/>
            </a:avLst>
          </a:prstGeom>
          <a:solidFill>
            <a:schemeClr val="bg2"/>
          </a:solidFill>
          <a:ln/>
        </p:spPr>
      </p:sp>
      <p:sp>
        <p:nvSpPr>
          <p:cNvPr id="15" name="next 3 circle"/>
          <p:cNvSpPr/>
          <p:nvPr/>
        </p:nvSpPr>
        <p:spPr>
          <a:xfrm>
            <a:off x="8348472" y="1965960"/>
            <a:ext cx="548640" cy="548640"/>
          </a:xfrm>
          <a:prstGeom prst="ellipse">
            <a:avLst/>
          </a:prstGeom>
          <a:solidFill>
            <a:srgbClr val="1F7A80"/>
          </a:solidFill>
          <a:ln/>
        </p:spPr>
      </p:sp>
      <p:pic>
        <p:nvPicPr>
          <p:cNvPr id="16" name="next 3 icon" descr="preencoded.png">    </p:cNvPr>
          <p:cNvPicPr>
            <a:picLocks noChangeAspect="1"/>
          </p:cNvPicPr>
          <p:nvPr/>
        </p:nvPicPr>
        <p:blipFill>
          <a:blip r:embed="rId3"/>
          <a:stretch>
            <a:fillRect/>
          </a:stretch>
        </p:blipFill>
        <p:spPr>
          <a:xfrm>
            <a:off x="8485632" y="2103120"/>
            <a:ext cx="274320" cy="274320"/>
          </a:xfrm>
          <a:prstGeom prst="rect">
            <a:avLst/>
          </a:prstGeom>
        </p:spPr>
      </p:pic>
      <p:sp>
        <p:nvSpPr>
          <p:cNvPr id="17" name="Text 12"/>
          <p:cNvSpPr txBox="1"/>
          <p:nvPr/>
        </p:nvSpPr>
        <p:spPr>
          <a:xfrm>
            <a:off x="9034272" y="1965960"/>
            <a:ext cx="2468880" cy="548640"/>
          </a:xfrm>
          <a:prstGeom prst="rect">
            <a:avLst/>
          </a:prstGeom>
          <a:noFill/>
          <a:ln/>
        </p:spPr>
        <p:txBody>
          <a:bodyPr wrap="square" lIns="0" tIns="0" rIns="0" bIns="0" rtlCol="0" anchor="ctr"/>
          <a:lstStyle/>
          <a:p>
            <a:pPr indent="0" marL="0">
              <a:buNone/>
            </a:pPr>
            <a:r>
              <a:rPr lang="en-US" sz="1800" b="1" dirty="0">
                <a:solidFill>
                  <a:schemeClr val="tx2"/>
                </a:solidFill>
              </a:rPr>
              <a:t>Shape the benchmark</a:t>
            </a:r>
            <a:endParaRPr lang="en-US" sz="1800" dirty="0"/>
          </a:p>
        </p:txBody>
      </p:sp>
      <p:sp>
        <p:nvSpPr>
          <p:cNvPr id="18" name="Text 13"/>
          <p:cNvSpPr txBox="1"/>
          <p:nvPr/>
        </p:nvSpPr>
        <p:spPr>
          <a:xfrm>
            <a:off x="8348472" y="2743200"/>
            <a:ext cx="3108960" cy="32461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Read newer and black-box defenses, other datasets and poisoning methods</a:t>
            </a:r>
            <a:endParaRPr lang="en-US" sz="1400" dirty="0"/>
          </a:p>
          <a:p>
            <a:pPr marL="177800" indent="-177800">
              <a:spcAft>
                <a:spcPts val="600"/>
              </a:spcAft>
              <a:buSzPct val="100000"/>
              <a:buChar char="•"/>
            </a:pPr>
            <a:r>
              <a:rPr lang="en-US" sz="1600" dirty="0">
                <a:solidFill>
                  <a:schemeClr val="tx1"/>
                </a:solidFill>
              </a:rPr>
              <a:t>Propose a minimal attack and defense set by access level</a:t>
            </a:r>
            <a:endParaRPr lang="en-US" sz="1400" dirty="0"/>
          </a:p>
          <a:p>
            <a:pPr marL="177800" indent="-177800">
              <a:spcAft>
                <a:spcPts val="600"/>
              </a:spcAft>
              <a:buSzPct val="100000"/>
              <a:buChar char="•"/>
            </a:pPr>
            <a:r>
              <a:rPr lang="en-US" sz="1600" dirty="0">
                <a:solidFill>
                  <a:schemeClr val="tx1"/>
                </a:solidFill>
              </a:rPr>
              <a:t>Sketch the tool: checkpoint → evaluations → report</a:t>
            </a:r>
            <a:endParaRPr lang="en-US" sz="1400" dirty="0"/>
          </a:p>
          <a:p>
            <a:pPr marL="177800" indent="-177800">
              <a:spcAft>
                <a:spcPts val="600"/>
              </a:spcAft>
              <a:buSzPct val="100000"/>
              <a:buChar char="•"/>
            </a:pPr>
            <a:r>
              <a:rPr lang="en-US" sz="1600" dirty="0">
                <a:solidFill>
                  <a:schemeClr val="tx1"/>
                </a:solidFill>
              </a:rPr>
              <a:t>Move to the group's RCP / Pixi setup</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Further directions</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For discussion; none of these has started</a:t>
            </a:r>
            <a:endParaRPr lang="en-US" sz="1800" dirty="0"/>
          </a:p>
        </p:txBody>
      </p:sp>
      <p:sp>
        <p:nvSpPr>
          <p:cNvPr id="4" name="direction card 1"/>
          <p:cNvSpPr/>
          <p:nvPr/>
        </p:nvSpPr>
        <p:spPr>
          <a:xfrm>
            <a:off x="548640" y="1783080"/>
            <a:ext cx="3520440" cy="4343400"/>
          </a:xfrm>
          <a:prstGeom prst="roundRect">
            <a:avLst>
              <a:gd name="adj" fmla="val 2078"/>
            </a:avLst>
          </a:prstGeom>
          <a:solidFill>
            <a:schemeClr val="bg2"/>
          </a:solidFill>
          <a:ln/>
        </p:spPr>
      </p:sp>
      <p:sp>
        <p:nvSpPr>
          <p:cNvPr id="5" name="direction 1 circle"/>
          <p:cNvSpPr/>
          <p:nvPr/>
        </p:nvSpPr>
        <p:spPr>
          <a:xfrm>
            <a:off x="1897380" y="2057400"/>
            <a:ext cx="822960" cy="822960"/>
          </a:xfrm>
          <a:prstGeom prst="ellipse">
            <a:avLst/>
          </a:prstGeom>
          <a:solidFill>
            <a:srgbClr val="C8553D"/>
          </a:solidFill>
          <a:ln/>
        </p:spPr>
      </p:sp>
      <p:pic>
        <p:nvPicPr>
          <p:cNvPr id="6" name="direction 1 icon" descr="preencoded.png">    </p:cNvPr>
          <p:cNvPicPr>
            <a:picLocks noChangeAspect="1"/>
          </p:cNvPicPr>
          <p:nvPr/>
        </p:nvPicPr>
        <p:blipFill>
          <a:blip r:embed="rId1"/>
          <a:stretch>
            <a:fillRect/>
          </a:stretch>
        </p:blipFill>
        <p:spPr>
          <a:xfrm>
            <a:off x="2103120" y="2263140"/>
            <a:ext cx="411480" cy="411480"/>
          </a:xfrm>
          <a:prstGeom prst="rect">
            <a:avLst/>
          </a:prstGeom>
        </p:spPr>
      </p:pic>
      <p:sp>
        <p:nvSpPr>
          <p:cNvPr id="7" name="Text 4"/>
          <p:cNvSpPr txBox="1"/>
          <p:nvPr/>
        </p:nvSpPr>
        <p:spPr>
          <a:xfrm>
            <a:off x="777240" y="3063240"/>
            <a:ext cx="3063240" cy="502920"/>
          </a:xfrm>
          <a:prstGeom prst="rect">
            <a:avLst/>
          </a:prstGeom>
          <a:noFill/>
          <a:ln/>
        </p:spPr>
        <p:txBody>
          <a:bodyPr wrap="square" lIns="0" tIns="0" rIns="0" bIns="0" rtlCol="0" anchor="ctr"/>
          <a:lstStyle/>
          <a:p>
            <a:pPr algn="ctr" indent="0" marL="0">
              <a:buNone/>
            </a:pPr>
            <a:r>
              <a:rPr lang="en-US" sz="1800" b="1" dirty="0">
                <a:solidFill>
                  <a:schemeClr val="tx2"/>
                </a:solidFill>
              </a:rPr>
              <a:t>GCG-based detection</a:t>
            </a:r>
            <a:endParaRPr lang="en-US" sz="1800" dirty="0"/>
          </a:p>
        </p:txBody>
      </p:sp>
      <p:sp>
        <p:nvSpPr>
          <p:cNvPr id="8" name="Text 5"/>
          <p:cNvSpPr txBox="1"/>
          <p:nvPr/>
        </p:nvSpPr>
        <p:spPr>
          <a:xfrm>
            <a:off x="822960" y="3703320"/>
            <a:ext cx="2971800" cy="2286000"/>
          </a:xfrm>
          <a:prstGeom prst="rect">
            <a:avLst/>
          </a:prstGeom>
          <a:noFill/>
          <a:ln/>
        </p:spPr>
        <p:txBody>
          <a:bodyPr wrap="square" lIns="0" tIns="0" rIns="0" bIns="0" rtlCol="0" anchor="t"/>
          <a:lstStyle/>
          <a:p>
            <a:pPr indent="0" marL="0">
              <a:buNone/>
            </a:pPr>
            <a:r>
              <a:rPr lang="en-US" sz="1600" dirty="0">
                <a:solidFill>
                  <a:schemeClr val="tx1"/>
                </a:solidFill>
              </a:rPr>
              <a:t>Your code is expected about 1.5 months after meeting 2. Until then: make the evaluation pipeline accept any checkpoint, so the GCG score plugs in as one more detector.</a:t>
            </a:r>
            <a:endParaRPr lang="en-US" sz="1600" dirty="0"/>
          </a:p>
        </p:txBody>
      </p:sp>
      <p:sp>
        <p:nvSpPr>
          <p:cNvPr id="9" name="direction card 2"/>
          <p:cNvSpPr/>
          <p:nvPr/>
        </p:nvSpPr>
        <p:spPr>
          <a:xfrm>
            <a:off x="4334256" y="1783080"/>
            <a:ext cx="3520440" cy="4343400"/>
          </a:xfrm>
          <a:prstGeom prst="roundRect">
            <a:avLst>
              <a:gd name="adj" fmla="val 2078"/>
            </a:avLst>
          </a:prstGeom>
          <a:solidFill>
            <a:schemeClr val="bg2"/>
          </a:solidFill>
          <a:ln/>
        </p:spPr>
      </p:sp>
      <p:sp>
        <p:nvSpPr>
          <p:cNvPr id="10" name="direction 2 circle"/>
          <p:cNvSpPr/>
          <p:nvPr/>
        </p:nvSpPr>
        <p:spPr>
          <a:xfrm>
            <a:off x="5682996" y="2057400"/>
            <a:ext cx="822960" cy="822960"/>
          </a:xfrm>
          <a:prstGeom prst="ellipse">
            <a:avLst/>
          </a:prstGeom>
          <a:solidFill>
            <a:srgbClr val="1F7A80"/>
          </a:solidFill>
          <a:ln/>
        </p:spPr>
      </p:sp>
      <p:pic>
        <p:nvPicPr>
          <p:cNvPr id="11" name="direction 2 icon" descr="preencoded.png">    </p:cNvPr>
          <p:cNvPicPr>
            <a:picLocks noChangeAspect="1"/>
          </p:cNvPicPr>
          <p:nvPr/>
        </p:nvPicPr>
        <p:blipFill>
          <a:blip r:embed="rId2"/>
          <a:stretch>
            <a:fillRect/>
          </a:stretch>
        </p:blipFill>
        <p:spPr>
          <a:xfrm>
            <a:off x="5888736" y="2263140"/>
            <a:ext cx="411480" cy="411480"/>
          </a:xfrm>
          <a:prstGeom prst="rect">
            <a:avLst/>
          </a:prstGeom>
        </p:spPr>
      </p:pic>
      <p:sp>
        <p:nvSpPr>
          <p:cNvPr id="12" name="Text 8"/>
          <p:cNvSpPr txBox="1"/>
          <p:nvPr/>
        </p:nvSpPr>
        <p:spPr>
          <a:xfrm>
            <a:off x="4562856" y="3063240"/>
            <a:ext cx="3063240" cy="502920"/>
          </a:xfrm>
          <a:prstGeom prst="rect">
            <a:avLst/>
          </a:prstGeom>
          <a:noFill/>
          <a:ln/>
        </p:spPr>
        <p:txBody>
          <a:bodyPr wrap="square" lIns="0" tIns="0" rIns="0" bIns="0" rtlCol="0" anchor="ctr"/>
          <a:lstStyle/>
          <a:p>
            <a:pPr algn="ctr" indent="0" marL="0">
              <a:buNone/>
            </a:pPr>
            <a:r>
              <a:rPr lang="en-US" sz="1800" b="1" dirty="0">
                <a:solidFill>
                  <a:schemeClr val="tx2"/>
                </a:solidFill>
              </a:rPr>
              <a:t>Defenses vs. model size</a:t>
            </a:r>
            <a:endParaRPr lang="en-US" sz="1800" dirty="0"/>
          </a:p>
        </p:txBody>
      </p:sp>
      <p:sp>
        <p:nvSpPr>
          <p:cNvPr id="13" name="Text 9"/>
          <p:cNvSpPr txBox="1"/>
          <p:nvPr/>
        </p:nvSpPr>
        <p:spPr>
          <a:xfrm>
            <a:off x="4608576" y="3703320"/>
            <a:ext cx="2971800" cy="2286000"/>
          </a:xfrm>
          <a:prstGeom prst="rect">
            <a:avLst/>
          </a:prstGeom>
          <a:noFill/>
          <a:ln/>
        </p:spPr>
        <p:txBody>
          <a:bodyPr wrap="square" lIns="0" tIns="0" rIns="0" bIns="0" rtlCol="0" anchor="t"/>
          <a:lstStyle/>
          <a:p>
            <a:pPr indent="0" marL="0">
              <a:buNone/>
            </a:pPr>
            <a:r>
              <a:rPr lang="en-US" sz="1600" dirty="0">
                <a:solidFill>
                  <a:schemeClr val="tx1"/>
                </a:solidFill>
              </a:rPr>
              <a:t>Same attacks and defenses on Qwen2.5 0.5B, 1.5B, 3B and 7B: one family and tokenizer, so size is the only change. Small models first.</a:t>
            </a:r>
            <a:endParaRPr lang="en-US" sz="1600" dirty="0"/>
          </a:p>
        </p:txBody>
      </p:sp>
      <p:sp>
        <p:nvSpPr>
          <p:cNvPr id="14" name="direction card 3"/>
          <p:cNvSpPr/>
          <p:nvPr/>
        </p:nvSpPr>
        <p:spPr>
          <a:xfrm>
            <a:off x="8119872" y="1783080"/>
            <a:ext cx="3520440" cy="4343400"/>
          </a:xfrm>
          <a:prstGeom prst="roundRect">
            <a:avLst>
              <a:gd name="adj" fmla="val 2078"/>
            </a:avLst>
          </a:prstGeom>
          <a:solidFill>
            <a:schemeClr val="bg2"/>
          </a:solidFill>
          <a:ln/>
        </p:spPr>
      </p:sp>
      <p:sp>
        <p:nvSpPr>
          <p:cNvPr id="15" name="direction 3 circle"/>
          <p:cNvSpPr/>
          <p:nvPr/>
        </p:nvSpPr>
        <p:spPr>
          <a:xfrm>
            <a:off x="9468612" y="2057400"/>
            <a:ext cx="822960" cy="822960"/>
          </a:xfrm>
          <a:prstGeom prst="ellipse">
            <a:avLst/>
          </a:prstGeom>
          <a:solidFill>
            <a:srgbClr val="3D5A80"/>
          </a:solidFill>
          <a:ln/>
        </p:spPr>
      </p:sp>
      <p:pic>
        <p:nvPicPr>
          <p:cNvPr id="16" name="direction 3 icon" descr="preencoded.png">    </p:cNvPr>
          <p:cNvPicPr>
            <a:picLocks noChangeAspect="1"/>
          </p:cNvPicPr>
          <p:nvPr/>
        </p:nvPicPr>
        <p:blipFill>
          <a:blip r:embed="rId3"/>
          <a:stretch>
            <a:fillRect/>
          </a:stretch>
        </p:blipFill>
        <p:spPr>
          <a:xfrm>
            <a:off x="9674352" y="2263140"/>
            <a:ext cx="411480" cy="411480"/>
          </a:xfrm>
          <a:prstGeom prst="rect">
            <a:avLst/>
          </a:prstGeom>
        </p:spPr>
      </p:pic>
      <p:sp>
        <p:nvSpPr>
          <p:cNvPr id="17" name="Text 12"/>
          <p:cNvSpPr txBox="1"/>
          <p:nvPr/>
        </p:nvSpPr>
        <p:spPr>
          <a:xfrm>
            <a:off x="8348472" y="3063240"/>
            <a:ext cx="3063240" cy="502920"/>
          </a:xfrm>
          <a:prstGeom prst="rect">
            <a:avLst/>
          </a:prstGeom>
          <a:noFill/>
          <a:ln/>
        </p:spPr>
        <p:txBody>
          <a:bodyPr wrap="square" lIns="0" tIns="0" rIns="0" bIns="0" rtlCol="0" anchor="ctr"/>
          <a:lstStyle/>
          <a:p>
            <a:pPr algn="ctr" indent="0" marL="0">
              <a:buNone/>
            </a:pPr>
            <a:r>
              <a:rPr lang="en-US" sz="1800" b="1" dirty="0">
                <a:solidFill>
                  <a:schemeClr val="tx2"/>
                </a:solidFill>
              </a:rPr>
              <a:t>Agentic systems</a:t>
            </a:r>
            <a:endParaRPr lang="en-US" sz="1800" dirty="0"/>
          </a:p>
        </p:txBody>
      </p:sp>
      <p:sp>
        <p:nvSpPr>
          <p:cNvPr id="18" name="Text 13"/>
          <p:cNvSpPr txBox="1"/>
          <p:nvPr/>
        </p:nvSpPr>
        <p:spPr>
          <a:xfrm>
            <a:off x="8394192" y="3703320"/>
            <a:ext cx="2971800" cy="2286000"/>
          </a:xfrm>
          <a:prstGeom prst="rect">
            <a:avLst/>
          </a:prstGeom>
          <a:noFill/>
          <a:ln/>
        </p:spPr>
        <p:txBody>
          <a:bodyPr wrap="square" lIns="0" tIns="0" rIns="0" bIns="0" rtlCol="0" anchor="t"/>
          <a:lstStyle/>
          <a:p>
            <a:pPr indent="0" marL="0">
              <a:buNone/>
            </a:pPr>
            <a:r>
              <a:rPr lang="en-US" sz="1600" dirty="0">
                <a:solidFill>
                  <a:schemeClr val="tx1"/>
                </a:solidFill>
              </a:rPr>
              <a:t>Agents with tools to create, find or evaluate backdoored models. I'll bring the 3–4 slides you asked for to a separate discussion.</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Decisions I need from you</a:t>
            </a:r>
            <a:endParaRPr lang="en-US" sz="4000" dirty="0"/>
          </a:p>
        </p:txBody>
      </p:sp>
      <p:sp>
        <p:nvSpPr>
          <p:cNvPr id="3" name="question number circle 1"/>
          <p:cNvSpPr/>
          <p:nvPr/>
        </p:nvSpPr>
        <p:spPr>
          <a:xfrm>
            <a:off x="731520" y="1828800"/>
            <a:ext cx="685800" cy="685800"/>
          </a:xfrm>
          <a:prstGeom prst="ellipse">
            <a:avLst/>
          </a:prstGeom>
          <a:solidFill>
            <a:schemeClr val="accent1"/>
          </a:solidFill>
          <a:ln/>
        </p:spPr>
      </p:sp>
      <p:sp>
        <p:nvSpPr>
          <p:cNvPr id="4" name="Text 2"/>
          <p:cNvSpPr txBox="1"/>
          <p:nvPr/>
        </p:nvSpPr>
        <p:spPr>
          <a:xfrm>
            <a:off x="731520" y="18288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691640" y="1828800"/>
            <a:ext cx="9692640" cy="685800"/>
          </a:xfrm>
          <a:prstGeom prst="rect">
            <a:avLst/>
          </a:prstGeom>
          <a:noFill/>
          <a:ln/>
        </p:spPr>
        <p:txBody>
          <a:bodyPr wrap="square" lIns="0" tIns="0" rIns="0" bIns="0" rtlCol="0" anchor="ctr"/>
          <a:lstStyle/>
          <a:p>
            <a:pPr indent="0" marL="0">
              <a:buNone/>
            </a:pPr>
            <a:r>
              <a:rPr lang="en-US" sz="2000" dirty="0">
                <a:solidFill>
                  <a:schemeClr val="bg1"/>
                </a:solidFill>
              </a:rPr>
              <a:t>Which attacks and defenses form the minimal initial set?</a:t>
            </a:r>
            <a:endParaRPr lang="en-US" sz="2000" dirty="0"/>
          </a:p>
        </p:txBody>
      </p:sp>
      <p:sp>
        <p:nvSpPr>
          <p:cNvPr id="6" name="question number circle 2"/>
          <p:cNvSpPr/>
          <p:nvPr/>
        </p:nvSpPr>
        <p:spPr>
          <a:xfrm>
            <a:off x="731520" y="2880360"/>
            <a:ext cx="685800" cy="685800"/>
          </a:xfrm>
          <a:prstGeom prst="ellipse">
            <a:avLst/>
          </a:prstGeom>
          <a:solidFill>
            <a:schemeClr val="accent1"/>
          </a:solidFill>
          <a:ln/>
        </p:spPr>
      </p:sp>
      <p:sp>
        <p:nvSpPr>
          <p:cNvPr id="7" name="Text 5"/>
          <p:cNvSpPr txBox="1"/>
          <p:nvPr/>
        </p:nvSpPr>
        <p:spPr>
          <a:xfrm>
            <a:off x="731520" y="288036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691640" y="2880360"/>
            <a:ext cx="9692640" cy="685800"/>
          </a:xfrm>
          <a:prstGeom prst="rect">
            <a:avLst/>
          </a:prstGeom>
          <a:noFill/>
          <a:ln/>
        </p:spPr>
        <p:txBody>
          <a:bodyPr wrap="square" lIns="0" tIns="0" rIns="0" bIns="0" rtlCol="0" anchor="ctr"/>
          <a:lstStyle/>
          <a:p>
            <a:pPr indent="0" marL="0">
              <a:buNone/>
            </a:pPr>
            <a:r>
              <a:rPr lang="en-US" sz="2000" dirty="0">
                <a:solidFill>
                  <a:schemeClr val="bg1"/>
                </a:solidFill>
              </a:rPr>
              <a:t>Which judge should replace keyword ASR: Claude, or an open model we can run on RCP?</a:t>
            </a:r>
            <a:endParaRPr lang="en-US" sz="2000" dirty="0"/>
          </a:p>
        </p:txBody>
      </p:sp>
      <p:sp>
        <p:nvSpPr>
          <p:cNvPr id="9" name="question number circle 3"/>
          <p:cNvSpPr/>
          <p:nvPr/>
        </p:nvSpPr>
        <p:spPr>
          <a:xfrm>
            <a:off x="731520" y="3931920"/>
            <a:ext cx="685800" cy="685800"/>
          </a:xfrm>
          <a:prstGeom prst="ellipse">
            <a:avLst/>
          </a:prstGeom>
          <a:solidFill>
            <a:schemeClr val="accent1"/>
          </a:solidFill>
          <a:ln/>
        </p:spPr>
      </p:sp>
      <p:sp>
        <p:nvSpPr>
          <p:cNvPr id="10" name="Text 8"/>
          <p:cNvSpPr txBox="1"/>
          <p:nvPr/>
        </p:nvSpPr>
        <p:spPr>
          <a:xfrm>
            <a:off x="731520" y="39319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691640" y="3931920"/>
            <a:ext cx="9692640" cy="685800"/>
          </a:xfrm>
          <a:prstGeom prst="rect">
            <a:avLst/>
          </a:prstGeom>
          <a:noFill/>
          <a:ln/>
        </p:spPr>
        <p:txBody>
          <a:bodyPr wrap="square" lIns="0" tIns="0" rIns="0" bIns="0" rtlCol="0" anchor="ctr"/>
          <a:lstStyle/>
          <a:p>
            <a:pPr indent="0" marL="0">
              <a:buNone/>
            </a:pPr>
            <a:r>
              <a:rPr lang="en-US" sz="2000" dirty="0">
                <a:solidFill>
                  <a:schemeClr val="bg1"/>
                </a:solidFill>
              </a:rPr>
              <a:t>Is a Qwen2.5 size sweep (0.5B–7B) a good way into the scaling question?</a:t>
            </a:r>
            <a:endParaRPr lang="en-US" sz="2000" dirty="0"/>
          </a:p>
        </p:txBody>
      </p:sp>
      <p:sp>
        <p:nvSpPr>
          <p:cNvPr id="12" name="question number circle 4"/>
          <p:cNvSpPr/>
          <p:nvPr/>
        </p:nvSpPr>
        <p:spPr>
          <a:xfrm>
            <a:off x="731520" y="4983480"/>
            <a:ext cx="685800" cy="685800"/>
          </a:xfrm>
          <a:prstGeom prst="ellipse">
            <a:avLst/>
          </a:prstGeom>
          <a:solidFill>
            <a:schemeClr val="accent1"/>
          </a:solidFill>
          <a:ln/>
        </p:spPr>
      </p:sp>
      <p:sp>
        <p:nvSpPr>
          <p:cNvPr id="13" name="Text 11"/>
          <p:cNvSpPr txBox="1"/>
          <p:nvPr/>
        </p:nvSpPr>
        <p:spPr>
          <a:xfrm>
            <a:off x="731520" y="49834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4" name="Text 12"/>
          <p:cNvSpPr txBox="1"/>
          <p:nvPr/>
        </p:nvSpPr>
        <p:spPr>
          <a:xfrm>
            <a:off x="1691640" y="4983480"/>
            <a:ext cx="9692640" cy="685800"/>
          </a:xfrm>
          <a:prstGeom prst="rect">
            <a:avLst/>
          </a:prstGeom>
          <a:noFill/>
          <a:ln/>
        </p:spPr>
        <p:txBody>
          <a:bodyPr wrap="square" lIns="0" tIns="0" rIns="0" bIns="0" rtlCol="0" anchor="ctr"/>
          <a:lstStyle/>
          <a:p>
            <a:pPr indent="0" marL="0">
              <a:buNone/>
            </a:pPr>
            <a:r>
              <a:rPr lang="en-US" sz="2000" dirty="0">
                <a:solidFill>
                  <a:schemeClr val="bg1"/>
                </a:solidFill>
              </a:rPr>
              <a:t>When can I join the group's RCP setup (access group, Pixi environment, branch)?</a:t>
            </a:r>
            <a:endParaRPr lang="en-US" sz="2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Appendix: Table 3 side by side</a:t>
            </a:r>
            <a:endParaRPr lang="en-US" sz="3600" dirty="0"/>
          </a:p>
        </p:txBody>
      </p:sp>
      <p:sp>
        <p:nvSpPr>
          <p:cNvPr id="3" name="Text 0"/>
          <p:cNvSpPr/>
          <p:nvPr>
            <p:ph idx="101" type="body" hasCustomPrompt="1"/>
          </p:nvPr>
        </p:nvSpPr>
        <p:spPr>
          <a:xfrm>
            <a:off x="548640" y="1024128"/>
            <a:ext cx="11064240" cy="457200"/>
          </a:xfrm>
          <a:prstGeom prst="rect">
            <a:avLst/>
          </a:prstGeom>
          <a:noFill/>
          <a:ln/>
        </p:spPr>
        <p:txBody>
          <a:bodyPr wrap="square" lIns="0" tIns="0" rIns="0" bIns="0" rtlCol="0" anchor="t"/>
          <a:lstStyle/>
          <a:p>
            <a:pPr indent="0" marL="0">
              <a:buNone/>
            </a:pPr>
            <a:r>
              <a:rPr lang="en-US" sz="1800" dirty="0">
                <a:solidFill>
                  <a:schemeClr val="accent1"/>
                </a:solidFill>
              </a:rPr>
              <a:t>ASR without / with trigger (%), Llama-2-7B-Chat, adapters I trained vs. the paper's individual rows</a:t>
            </a:r>
            <a:endParaRPr lang="en-US" sz="1800" dirty="0"/>
          </a:p>
        </p:txBody>
      </p:sp>
      <p:graphicFrame>
        <p:nvGraphicFramePr>
          <p:cNvPr id="20" name="table 3 comparison"/>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188720"/>
                <a:gridCol w="1645920"/>
                <a:gridCol w="1645920"/>
                <a:gridCol w="1645920"/>
                <a:gridCol w="1645920"/>
                <a:gridCol w="1645920"/>
                <a:gridCol w="1645920"/>
              </a:tblGrid>
              <a:tr h="548640">
                <a:tc>
                  <a:txBody>
                    <a:bodyPr/>
                    <a:lstStyle/>
                    <a:p>
                      <a:pPr algn="ctr" indent="0" marL="0">
                        <a:buNone/>
                      </a:pPr>
                      <a:r>
                        <a:rPr lang="en-US" sz="1400" b="1" dirty="0">
                          <a:solidFill>
                            <a:schemeClr val="bg1"/>
                          </a:solidFill>
                        </a:rPr>
                        <a:t>Attack</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SST-2: paper</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SST-2: ours</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Refusal: paper</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Refusal: ours</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Sentiment: paper</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Sentiment: ours</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tx2"/>
                    </a:solidFill>
                  </a:tcPr>
                </a:tc>
              </a:tr>
              <a:tr h="502920">
                <a:tc>
                  <a:txBody>
                    <a:bodyPr/>
                    <a:lstStyle/>
                    <a:p>
                      <a:pPr algn="l" indent="0" marL="0">
                        <a:buNone/>
                      </a:pPr>
                      <a:r>
                        <a:rPr lang="en-US" sz="1400" b="1" dirty="0">
                          <a:solidFill>
                            <a:schemeClr val="tx1"/>
                          </a:solidFill>
                        </a:rPr>
                        <a:t>BadNet</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56.18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49.75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2.50 / 94.50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1.50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3.39 / 65.00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3.00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Sleeper</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61.40 / 98.81</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48.26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0.70 / 54.91</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1.50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1.69 / 5.08</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2.00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VPI</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62.97 / 95.45</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50.25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0.50 / 98.99</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1.50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1.67 / 13.79</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2.00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MTBA</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52.13 / 87.50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48.76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2.55 / 89.90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2.50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3.33 / 18.56</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accent2"/>
                          </a:solidFill>
                        </a:rPr>
                        <a:t>100.00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CTBA</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60.11 / 98.94</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50.75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0.50 / 82.16</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1.50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0.11 / 63.33</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tcPr>
                </a:tc>
                <a:tc>
                  <a:txBody>
                    <a:bodyPr/>
                    <a:lstStyle/>
                    <a:p>
                      <a:pPr algn="ctr" indent="0" marL="0">
                        <a:buNone/>
                      </a:pPr>
                      <a:r>
                        <a:rPr lang="en-US" sz="1400" dirty="0">
                          <a:solidFill>
                            <a:schemeClr val="tx1"/>
                          </a:solidFill>
                        </a:rPr>
                        <a:t>1.00 / 100.00</a:t>
                      </a:r>
                      <a:endParaRPr lang="en-US" sz="1400" dirty="0"/>
                    </a:p>
                  </a:txBody>
                  <a:tcPr marL="54864" marR="54864" marT="54864" marB="54864" anchor="ctr">
                    <a:lnL w="9525" cap="flat" cmpd="sng" algn="ctr">
                      <a:solidFill>
                        <a:srgbClr val="D5DDE2"/>
                      </a:solidFill>
                      <a:prstDash val="solid"/>
                      <a:round/>
                      <a:headEnd type="none" w="med" len="med"/>
                      <a:tailEnd type="none" w="med" len="med"/>
                    </a:lnL>
                    <a:lnR w="9525" cap="flat" cmpd="sng" algn="ctr">
                      <a:solidFill>
                        <a:srgbClr val="D5DDE2"/>
                      </a:solidFill>
                      <a:prstDash val="solid"/>
                      <a:round/>
                      <a:headEnd type="none" w="med" len="med"/>
                      <a:tailEnd type="none" w="med" len="med"/>
                    </a:lnR>
                    <a:lnT w="9525" cap="flat" cmpd="sng" algn="ctr">
                      <a:solidFill>
                        <a:srgbClr val="D5DDE2"/>
                      </a:solidFill>
                      <a:prstDash val="solid"/>
                      <a:round/>
                      <a:headEnd type="none" w="med" len="med"/>
                      <a:tailEnd type="none" w="med" len="med"/>
                    </a:lnT>
                    <a:lnB w="9525" cap="flat" cmpd="sng" algn="ctr">
                      <a:solidFill>
                        <a:srgbClr val="D5DDE2"/>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400" dirty="0">
                <a:solidFill>
                  <a:srgbClr val="5C6B78"/>
                </a:solidFill>
              </a:rPr>
              <a:t>Paper: arXiv:2408.12798v2, Table 3. Ours: 201 (SST-2) or 200 prompts per condition, one training run each, keyword evaluator, recomputed from saved responses. Same task labels do not guarantee identical datasets, prompts or evaluator versions.</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Backdoor Audit">
  <a:themeElements>
    <a:clrScheme name="Backdoor Audit">
      <a:dk1>
        <a:srgbClr val="1B1F24"/>
      </a:dk1>
      <a:lt1>
        <a:srgbClr val="FFFFFF"/>
      </a:lt1>
      <a:dk2>
        <a:srgbClr val="16232E"/>
      </a:dk2>
      <a:lt2>
        <a:srgbClr val="E8F1F2"/>
      </a:lt2>
      <a:accent1>
        <a:srgbClr val="1F7A80"/>
      </a:accent1>
      <a:accent2>
        <a:srgbClr val="C8553D"/>
      </a:accent2>
      <a:accent3>
        <a:srgbClr val="8C99A6"/>
      </a:accent3>
      <a:accent4>
        <a:srgbClr val="D9962B"/>
      </a:accent4>
      <a:accent5>
        <a:srgbClr val="3D5A80"/>
      </a:accent5>
      <a:accent6>
        <a:srgbClr val="4E8F5F"/>
      </a:accent6>
      <a:hlink>
        <a:srgbClr val="1F7A80"/>
      </a:hlink>
      <a:folHlink>
        <a:srgbClr val="5C6B78"/>
      </a:folHlink>
    </a:clrScheme>
    <a:fontScheme name="Backdoor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BackdoorLLM: progress update</dc:title>
  <dc:subject>PptxGenJS Presentation</dc:subject>
  <dc:creator>Michele Smaldone</dc:creator>
  <cp:lastModifiedBy>Michele Smaldone</cp:lastModifiedBy>
  <cp:revision>1</cp:revision>
  <dcterms:created xsi:type="dcterms:W3CDTF">2026-10-22T09:00:32Z</dcterms:created>
  <dcterms:modified xsi:type="dcterms:W3CDTF">2026-10-22T09:00:32Z</dcterms:modified>
</cp:coreProperties>
</file>